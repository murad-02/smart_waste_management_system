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51"/>
  </p:notesMasterIdLst>
  <p:sldIdLst>
    <p:sldId id="256" r:id="rId2"/>
    <p:sldId id="262" r:id="rId3"/>
    <p:sldId id="257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304" r:id="rId23"/>
    <p:sldId id="305" r:id="rId24"/>
    <p:sldId id="306" r:id="rId25"/>
    <p:sldId id="307" r:id="rId26"/>
    <p:sldId id="308" r:id="rId27"/>
    <p:sldId id="309" r:id="rId28"/>
    <p:sldId id="327" r:id="rId29"/>
    <p:sldId id="310" r:id="rId30"/>
    <p:sldId id="311" r:id="rId31"/>
    <p:sldId id="312" r:id="rId32"/>
    <p:sldId id="313" r:id="rId33"/>
    <p:sldId id="314" r:id="rId34"/>
    <p:sldId id="315" r:id="rId35"/>
    <p:sldId id="316" r:id="rId36"/>
    <p:sldId id="317" r:id="rId37"/>
    <p:sldId id="318" r:id="rId38"/>
    <p:sldId id="319" r:id="rId39"/>
    <p:sldId id="320" r:id="rId40"/>
    <p:sldId id="321" r:id="rId41"/>
    <p:sldId id="322" r:id="rId42"/>
    <p:sldId id="323" r:id="rId43"/>
    <p:sldId id="324" r:id="rId44"/>
    <p:sldId id="325" r:id="rId45"/>
    <p:sldId id="326" r:id="rId46"/>
    <p:sldId id="285" r:id="rId47"/>
    <p:sldId id="274" r:id="rId48"/>
    <p:sldId id="283" r:id="rId49"/>
    <p:sldId id="275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53" autoAdjust="0"/>
    <p:restoredTop sz="94291" autoAdjust="0"/>
  </p:normalViewPr>
  <p:slideViewPr>
    <p:cSldViewPr>
      <p:cViewPr varScale="1">
        <p:scale>
          <a:sx n="82" d="100"/>
          <a:sy n="82" d="100"/>
        </p:scale>
        <p:origin x="725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5A85DC-018B-4F1D-9BCC-BA10FDA96A23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7B5672-ADE6-4DA2-A2C7-8376839EE4B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4B66D-A5CE-42A1-9C05-46FA3E94CC3F}" type="datetime2">
              <a:rPr lang="en-US" smtClean="0"/>
              <a:pPr/>
              <a:t>Tuesday, May 26,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3516B-352B-4793-B7C4-6C06A4F4800D}" type="datetime2">
              <a:rPr lang="en-US" smtClean="0"/>
              <a:pPr/>
              <a:t>Tuesday, May 26,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6EF37-A94C-4534-A2B1-CC2022CDC647}" type="datetime2">
              <a:rPr lang="en-US" smtClean="0"/>
              <a:pPr/>
              <a:t>Tuesday, May 26,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23B4-94AB-4286-8811-583146B7BAD5}" type="datetime2">
              <a:rPr lang="en-US" smtClean="0"/>
              <a:pPr/>
              <a:t>Tuesday, May 26,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A0EDA-E9E5-48B8-905D-8AC44EBBC9FD}" type="datetime2">
              <a:rPr lang="en-US" smtClean="0"/>
              <a:pPr/>
              <a:t>Tuesday, May 26,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50185-9017-4836-A92F-BB05BFBC62F1}" type="datetime2">
              <a:rPr lang="en-US" smtClean="0"/>
              <a:pPr/>
              <a:t>Tuesday, May 26,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0F54A-25BC-482D-8D56-0755565FF8F0}" type="datetime2">
              <a:rPr lang="en-US" smtClean="0"/>
              <a:pPr/>
              <a:t>Tuesday, May 26,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C85E-12E0-4562-8829-CBECA72C9894}" type="datetime2">
              <a:rPr lang="en-US" smtClean="0"/>
              <a:pPr/>
              <a:t>Tuesday, May 26,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00E6C-C80E-4CD4-82EA-A20BF1A29307}" type="datetime2">
              <a:rPr lang="en-US" smtClean="0"/>
              <a:pPr/>
              <a:t>Tuesday, May 26,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28D4A-0135-440A-97ED-D0FA805DB767}" type="datetime2">
              <a:rPr lang="en-US" smtClean="0"/>
              <a:pPr/>
              <a:t>Tuesday, May 26,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E3F86-EE01-4EA4-B63B-715E83139625}" type="datetime2">
              <a:rPr lang="en-US" smtClean="0"/>
              <a:pPr/>
              <a:t>Tuesday, May 26,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3F5DE8-46B7-43C6-92B6-780BCD9A2D43}" type="datetime2">
              <a:rPr lang="en-US" smtClean="0"/>
              <a:pPr/>
              <a:t>Tuesday, May 26,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33A0814C-5892-9A81-1FF8-3FC0CD82DA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31721" y="3000346"/>
            <a:ext cx="7620000" cy="18288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br>
              <a:rPr lang="en-US" sz="2700" dirty="0">
                <a:latin typeface="Times New Roman" panose="02020603050405020304" pitchFamily="18" charset="0"/>
                <a:cs typeface="Times New Roman" pitchFamily="18" charset="0"/>
              </a:rPr>
            </a:br>
            <a:br>
              <a:rPr lang="en-US" sz="2200" b="1" dirty="0">
                <a:latin typeface="Times New Roman" panose="02020603050405020304" pitchFamily="18" charset="0"/>
                <a:cs typeface="Times New Roman" pitchFamily="18" charset="0"/>
              </a:rPr>
            </a:br>
            <a:r>
              <a:rPr lang="en-US" sz="2200" b="1" dirty="0">
                <a:latin typeface="Times New Roman" panose="02020603050405020304" pitchFamily="18" charset="0"/>
                <a:cs typeface="Times New Roman" pitchFamily="18" charset="0"/>
              </a:rPr>
              <a:t>Department of  Computer Science and Engineering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WordArt 5">
            <a:extLst>
              <a:ext uri="{FF2B5EF4-FFF2-40B4-BE49-F238E27FC236}">
                <a16:creationId xmlns:a16="http://schemas.microsoft.com/office/drawing/2014/main" id="{64321210-F7F5-833C-2F0E-44FA1536B25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268584" y="321277"/>
            <a:ext cx="7683137" cy="26778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1200" b="1" kern="10" spc="240" dirty="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008000"/>
                </a:solidFill>
                <a:latin typeface="Arial Narrow"/>
              </a:rPr>
              <a:t>IUBAT–INTERNATIONAL UNIVERSITY OF BUSINESS AGRICULTURE AND TECHNOLOGY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5AEDA63-CD71-DB64-252F-39303DCE36F4}"/>
              </a:ext>
            </a:extLst>
          </p:cNvPr>
          <p:cNvSpPr/>
          <p:nvPr/>
        </p:nvSpPr>
        <p:spPr>
          <a:xfrm>
            <a:off x="4648201" y="713602"/>
            <a:ext cx="270208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i="1" dirty="0">
                <a:solidFill>
                  <a:srgbClr val="008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Founded 1991 by Md. Alimullah Miyan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F487723-92C6-BBDF-AAEC-ADA519671CC8}"/>
              </a:ext>
            </a:extLst>
          </p:cNvPr>
          <p:cNvSpPr/>
          <p:nvPr/>
        </p:nvSpPr>
        <p:spPr>
          <a:xfrm>
            <a:off x="2209800" y="1143000"/>
            <a:ext cx="7848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itchFamily="18" charset="0"/>
              </a:rPr>
              <a:t>Smart Waste Management System (SWMS)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D0A5907-69CC-CA49-A99C-057B2C414293}"/>
              </a:ext>
            </a:extLst>
          </p:cNvPr>
          <p:cNvSpPr/>
          <p:nvPr/>
        </p:nvSpPr>
        <p:spPr>
          <a:xfrm>
            <a:off x="4394671" y="3000346"/>
            <a:ext cx="39180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u="sng" dirty="0">
                <a:latin typeface="Times New Roman" panose="02020603050405020304" pitchFamily="18" charset="0"/>
                <a:cs typeface="Times New Roman" pitchFamily="18" charset="0"/>
              </a:rPr>
              <a:t>Course Code: Practicum CSC 490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37B33A4-265A-54B6-A78E-0527EE662A4D}"/>
              </a:ext>
            </a:extLst>
          </p:cNvPr>
          <p:cNvSpPr/>
          <p:nvPr/>
        </p:nvSpPr>
        <p:spPr>
          <a:xfrm>
            <a:off x="7772400" y="4724400"/>
            <a:ext cx="48006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u="sng" dirty="0">
                <a:latin typeface="Times New Roman" panose="02020603050405020304" pitchFamily="18" charset="0"/>
                <a:cs typeface="Times New Roman" pitchFamily="18" charset="0"/>
              </a:rPr>
              <a:t>Prepared by: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itchFamily="18" charset="0"/>
              </a:rPr>
              <a:t>Md. Muradul Islam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itchFamily="18" charset="0"/>
              </a:rPr>
              <a:t>22203234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4C9B632-052F-0F62-BAC6-D1340841EDFF}"/>
              </a:ext>
            </a:extLst>
          </p:cNvPr>
          <p:cNvSpPr/>
          <p:nvPr/>
        </p:nvSpPr>
        <p:spPr>
          <a:xfrm>
            <a:off x="5518182" y="6302340"/>
            <a:ext cx="12234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itchFamily="18" charset="0"/>
              </a:rPr>
              <a:t>18/5/2026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AD68A41-E165-5C44-83F2-DD2C9276181B}"/>
              </a:ext>
            </a:extLst>
          </p:cNvPr>
          <p:cNvSpPr/>
          <p:nvPr/>
        </p:nvSpPr>
        <p:spPr>
          <a:xfrm>
            <a:off x="2040299" y="4724400"/>
            <a:ext cx="3505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u="sng" dirty="0">
                <a:latin typeface="Times New Roman" panose="02020603050405020304" pitchFamily="18" charset="0"/>
                <a:cs typeface="Times New Roman" pitchFamily="18" charset="0"/>
              </a:rPr>
              <a:t>Supervised by: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itchFamily="18" charset="0"/>
              </a:rPr>
              <a:t>Md. Khairul Islam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itchFamily="18" charset="0"/>
              </a:rPr>
              <a:t>Lecturer </a:t>
            </a:r>
          </a:p>
        </p:txBody>
      </p:sp>
      <p:pic>
        <p:nvPicPr>
          <p:cNvPr id="32" name="Picture 31" descr="Logo">
            <a:extLst>
              <a:ext uri="{FF2B5EF4-FFF2-40B4-BE49-F238E27FC236}">
                <a16:creationId xmlns:a16="http://schemas.microsoft.com/office/drawing/2014/main" id="{FE8850A5-AB16-2156-4849-D5C8EBB5FD6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3802245"/>
            <a:ext cx="457200" cy="470535"/>
          </a:xfrm>
          <a:prstGeom prst="rect">
            <a:avLst/>
          </a:prstGeom>
          <a:noFill/>
        </p:spPr>
      </p:pic>
      <p:pic>
        <p:nvPicPr>
          <p:cNvPr id="33" name="Picture 4">
            <a:extLst>
              <a:ext uri="{FF2B5EF4-FFF2-40B4-BE49-F238E27FC236}">
                <a16:creationId xmlns:a16="http://schemas.microsoft.com/office/drawing/2014/main" id="{5BB78B6C-A1BD-2C1A-FFBE-3BBA5FE85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00200" y="15240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4" name="Picture 2">
            <a:extLst>
              <a:ext uri="{FF2B5EF4-FFF2-40B4-BE49-F238E27FC236}">
                <a16:creationId xmlns:a16="http://schemas.microsoft.com/office/drawing/2014/main" id="{1BE7F60B-46F2-E98A-7786-B02FFB6DB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031922" y="19812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152400"/>
            <a:ext cx="79248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5486" y="1339193"/>
            <a:ext cx="5334000" cy="4492752"/>
          </a:xfrm>
        </p:spPr>
        <p:txBody>
          <a:bodyPr>
            <a:normAutofit/>
          </a:bodyPr>
          <a:lstStyle/>
          <a:p>
            <a:pPr marL="571500" indent="-457200">
              <a:lnSpc>
                <a:spcPct val="150000"/>
              </a:lnSpc>
              <a:buSzPts val="1800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571500" indent="-457200">
              <a:lnSpc>
                <a:spcPct val="150000"/>
              </a:lnSpc>
              <a:buSzPts val="1800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pPr marL="571500" indent="-457200">
              <a:lnSpc>
                <a:spcPct val="150000"/>
              </a:lnSpc>
              <a:buSzPts val="1800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 of the Project</a:t>
            </a:r>
          </a:p>
          <a:p>
            <a:pPr marL="571500" indent="-457200">
              <a:lnSpc>
                <a:spcPct val="150000"/>
              </a:lnSpc>
              <a:buSzPts val="1800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Process Model</a:t>
            </a:r>
          </a:p>
          <a:p>
            <a:pPr marL="571500" indent="-457200">
              <a:lnSpc>
                <a:spcPct val="150000"/>
              </a:lnSpc>
              <a:buSzPts val="1800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Analysis</a:t>
            </a:r>
          </a:p>
          <a:p>
            <a:pPr marL="571500" indent="-457200">
              <a:lnSpc>
                <a:spcPct val="150000"/>
              </a:lnSpc>
              <a:buSzPts val="1800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Engineering</a:t>
            </a:r>
          </a:p>
          <a:p>
            <a:pPr marL="571500" indent="-457200">
              <a:lnSpc>
                <a:spcPct val="150000"/>
              </a:lnSpc>
              <a:buSzPts val="1800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Planning &amp; Scheduling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B6F15528-21DE-4FAA-801E-634DDDAF4B2B}" type="slidenum">
              <a:rPr lang="en-US" sz="1200">
                <a:latin typeface="Rockwell" pitchFamily="18" charset="0"/>
              </a:rPr>
              <a:pPr algn="r">
                <a:defRPr/>
              </a:pPr>
              <a:t>2</a:t>
            </a:fld>
            <a:endParaRPr lang="en-US" sz="1200" dirty="0">
              <a:latin typeface="Rockwell" pitchFamily="18" charset="0"/>
            </a:endParaRP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5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031922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ACB48F1-E1E7-516A-EF0E-5A8920CAD7B3}"/>
              </a:ext>
            </a:extLst>
          </p:cNvPr>
          <p:cNvSpPr txBox="1">
            <a:spLocks/>
          </p:cNvSpPr>
          <p:nvPr/>
        </p:nvSpPr>
        <p:spPr>
          <a:xfrm>
            <a:off x="6781800" y="1182624"/>
            <a:ext cx="5334000" cy="4492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457200">
              <a:lnSpc>
                <a:spcPct val="150000"/>
              </a:lnSpc>
              <a:buSzPts val="1800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457200">
              <a:lnSpc>
                <a:spcPct val="150000"/>
              </a:lnSpc>
              <a:buSzPts val="1800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Management</a:t>
            </a:r>
          </a:p>
          <a:p>
            <a:pPr marL="571500" indent="-457200">
              <a:lnSpc>
                <a:spcPct val="150000"/>
              </a:lnSpc>
              <a:buSzPts val="1800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Interface Pictures</a:t>
            </a:r>
          </a:p>
          <a:p>
            <a:pPr marL="571500" indent="-457200">
              <a:lnSpc>
                <a:spcPct val="150000"/>
              </a:lnSpc>
              <a:buSzPts val="1800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Demonstration</a:t>
            </a:r>
          </a:p>
          <a:p>
            <a:pPr marL="571500" indent="-457200">
              <a:lnSpc>
                <a:spcPct val="150000"/>
              </a:lnSpc>
              <a:buSzPts val="1800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571500" indent="-457200">
              <a:lnSpc>
                <a:spcPct val="150000"/>
              </a:lnSpc>
              <a:buSzPts val="1800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171857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                     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  <p:sp>
        <p:nvSpPr>
          <p:cNvPr id="8" name="Slide Number Placeholder 3"/>
          <p:cNvSpPr txBox="1">
            <a:spLocks/>
          </p:cNvSpPr>
          <p:nvPr/>
        </p:nvSpPr>
        <p:spPr>
          <a:xfrm>
            <a:off x="8534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B6F15528-21DE-4FAA-801E-634DDDAF4B2B}" type="slidenum">
              <a:rPr lang="en-US" sz="1200">
                <a:latin typeface="Rockwell" pitchFamily="18" charset="0"/>
              </a:rPr>
              <a:pPr algn="r">
                <a:defRPr/>
              </a:pPr>
              <a:t>3</a:t>
            </a:fld>
            <a:endParaRPr lang="en-US" sz="1200" dirty="0">
              <a:latin typeface="Rockwell" pitchFamily="18" charset="0"/>
            </a:endParaRP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148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1880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Introduction 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533400" y="1213586"/>
            <a:ext cx="11050738" cy="4724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 waste generation is rising rapidly, but collection systems remain manual and reactive.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Waste Management System (SWMS) is a Python-based desktop application that combines: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Computer-vision waste detection (bin &amp; waste-type recognition)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Fleet management (trucks, drivers, routes, trips, maintenance)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Analytics, alerts, and PDF reporting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with PyQt5, SQLAlchemy/SQLite, and a YOLO-based detection model.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municipalities, waste-collection companies, and campus operations teams.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0459" y="12255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/>
          <p:cNvSpPr txBox="1">
            <a:spLocks/>
          </p:cNvSpPr>
          <p:nvPr/>
        </p:nvSpPr>
        <p:spPr>
          <a:xfrm>
            <a:off x="1524000" y="6629400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itchFamily="18" charset="0"/>
              </a:rPr>
              <a:t>Smart Waste Management System (SWMS)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93A92-9915-0145-8340-E0171EEF3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8C599-1185-7A28-1A57-C45D77152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171857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                     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E6E10CF0-A3C7-69EF-4082-BA87E6FACAD0}"/>
              </a:ext>
            </a:extLst>
          </p:cNvPr>
          <p:cNvSpPr txBox="1">
            <a:spLocks/>
          </p:cNvSpPr>
          <p:nvPr/>
        </p:nvSpPr>
        <p:spPr>
          <a:xfrm>
            <a:off x="8534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B6F15528-21DE-4FAA-801E-634DDDAF4B2B}" type="slidenum">
              <a:rPr lang="en-US" sz="1200">
                <a:latin typeface="Rockwell" pitchFamily="18" charset="0"/>
              </a:rPr>
              <a:pPr algn="r">
                <a:defRPr/>
              </a:pPr>
              <a:t>4</a:t>
            </a:fld>
            <a:endParaRPr lang="en-US" sz="1200" dirty="0">
              <a:latin typeface="Rockwell" pitchFamily="18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25D5BE91-F0EF-BF2A-1E14-1CC5CFF34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148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D6E68C5C-B580-1B7C-7AD8-EF849E113D09}"/>
              </a:ext>
            </a:extLst>
          </p:cNvPr>
          <p:cNvSpPr txBox="1">
            <a:spLocks/>
          </p:cNvSpPr>
          <p:nvPr/>
        </p:nvSpPr>
        <p:spPr>
          <a:xfrm>
            <a:off x="1880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Features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9AB92F2-180F-6583-6A00-807001F3BD19}"/>
              </a:ext>
            </a:extLst>
          </p:cNvPr>
          <p:cNvSpPr txBox="1">
            <a:spLocks/>
          </p:cNvSpPr>
          <p:nvPr/>
        </p:nvSpPr>
        <p:spPr>
          <a:xfrm>
            <a:off x="533400" y="1066800"/>
            <a:ext cx="11050738" cy="4724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&amp; Role-Based Access Control: Admin / Supervisor / Operator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 Detection: image upload + real-time video detection (YOLO)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 Fill-Level Prediction: empty, half, almost-full, full, overflowing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Dashboard: KPIs, category distribution, 7-day &amp; 30-day trend charts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 History: filter, verify/reject, delete, export to CSV/Excel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Fleet Module: Trucks, Drivers, Routes, Trips, Maintenance, Fleet Dashboard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 &amp; Rules: threshold-based, severity levels, email notifications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 Reports: summary, detailed, and category reports for any date range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Settings: SMTP configuration, company info, password management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73A35ED1-D3E9-04DC-56D8-1BE390917F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0459" y="12255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395320DE-1D01-B9FE-870F-111F8A0A7250}"/>
              </a:ext>
            </a:extLst>
          </p:cNvPr>
          <p:cNvSpPr txBox="1">
            <a:spLocks/>
          </p:cNvSpPr>
          <p:nvPr/>
        </p:nvSpPr>
        <p:spPr>
          <a:xfrm>
            <a:off x="1524000" y="6629400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itchFamily="18" charset="0"/>
              </a:rPr>
              <a:t>Smart Waste Management System (SWMS)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180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6482E-F9C6-5D9C-296E-4E72A81F7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D3958-8F37-E2E9-2706-933C9488D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171857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                     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9E1135E5-7BF1-681E-6D68-B8BDBB360C5D}"/>
              </a:ext>
            </a:extLst>
          </p:cNvPr>
          <p:cNvSpPr txBox="1">
            <a:spLocks/>
          </p:cNvSpPr>
          <p:nvPr/>
        </p:nvSpPr>
        <p:spPr>
          <a:xfrm>
            <a:off x="8534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B6F15528-21DE-4FAA-801E-634DDDAF4B2B}" type="slidenum">
              <a:rPr lang="en-US" sz="1200">
                <a:latin typeface="Rockwell" pitchFamily="18" charset="0"/>
              </a:rPr>
              <a:pPr algn="r">
                <a:defRPr/>
              </a:pPr>
              <a:t>5</a:t>
            </a:fld>
            <a:endParaRPr lang="en-US" sz="1200" dirty="0">
              <a:latin typeface="Rockwell" pitchFamily="18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EFC86289-EBA1-C71D-484C-4BC9FA063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148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1AA9D7D3-A6A8-2383-C3BE-1A4B0AADD244}"/>
              </a:ext>
            </a:extLst>
          </p:cNvPr>
          <p:cNvSpPr txBox="1">
            <a:spLocks/>
          </p:cNvSpPr>
          <p:nvPr/>
        </p:nvSpPr>
        <p:spPr>
          <a:xfrm>
            <a:off x="1880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Benefits of the Project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8E1419B-9746-2B7F-6FD4-EAFD914E4E3F}"/>
              </a:ext>
            </a:extLst>
          </p:cNvPr>
          <p:cNvSpPr txBox="1">
            <a:spLocks/>
          </p:cNvSpPr>
          <p:nvPr/>
        </p:nvSpPr>
        <p:spPr>
          <a:xfrm>
            <a:off x="533400" y="1066800"/>
            <a:ext cx="11050738" cy="4724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Efficiency: automates waste classification and bin monitoring.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Reduction: optimized routes and trip planning lower fuel &amp; labor costs.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Decisions: analytics and reports support strategic planning.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Impact: Better segregation increases recycling rates.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Accountability: activity logs and role-based access ensure traceability.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Scalability: modular architecture allows adding new modules (e.g., IoT sensors, mobile apps).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Demonstrable Prototype: fully functional desktop app ready for stakeholder demos.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9A3A7E31-8D0C-3A71-060F-DBC4653887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0459" y="12255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AD306F1E-F11E-3D1E-E149-FF8E12794CD0}"/>
              </a:ext>
            </a:extLst>
          </p:cNvPr>
          <p:cNvSpPr txBox="1">
            <a:spLocks/>
          </p:cNvSpPr>
          <p:nvPr/>
        </p:nvSpPr>
        <p:spPr>
          <a:xfrm>
            <a:off x="1524000" y="6629400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itchFamily="18" charset="0"/>
              </a:rPr>
              <a:t>Smart Waste Management System (SWMS)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297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C35BE-5B2A-E671-08A0-F70BF245A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A3046-EA1E-938E-7CFC-F3336DE9C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171857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                     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F1E3136B-3323-57D7-8C74-1AF943154203}"/>
              </a:ext>
            </a:extLst>
          </p:cNvPr>
          <p:cNvSpPr txBox="1">
            <a:spLocks/>
          </p:cNvSpPr>
          <p:nvPr/>
        </p:nvSpPr>
        <p:spPr>
          <a:xfrm>
            <a:off x="8534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B6F15528-21DE-4FAA-801E-634DDDAF4B2B}" type="slidenum">
              <a:rPr lang="en-US" sz="1200">
                <a:latin typeface="Rockwell" pitchFamily="18" charset="0"/>
              </a:rPr>
              <a:pPr algn="r">
                <a:defRPr/>
              </a:pPr>
              <a:t>6</a:t>
            </a:fld>
            <a:endParaRPr lang="en-US" sz="1200" dirty="0">
              <a:latin typeface="Rockwell" pitchFamily="18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E5D108AE-DAE6-0171-7889-7D9AE1993E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148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53B1A6E2-B86B-2C8B-57FD-021E3FD54C91}"/>
              </a:ext>
            </a:extLst>
          </p:cNvPr>
          <p:cNvSpPr txBox="1">
            <a:spLocks/>
          </p:cNvSpPr>
          <p:nvPr/>
        </p:nvSpPr>
        <p:spPr>
          <a:xfrm>
            <a:off x="1880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Software Process Model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556A59D-7DC5-960C-3693-31111E54BB47}"/>
              </a:ext>
            </a:extLst>
          </p:cNvPr>
          <p:cNvSpPr txBox="1">
            <a:spLocks/>
          </p:cNvSpPr>
          <p:nvPr/>
        </p:nvSpPr>
        <p:spPr>
          <a:xfrm>
            <a:off x="533400" y="1066800"/>
            <a:ext cx="6324600" cy="5181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Used: Incremental Model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was built in clear, working increments: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+ Database Layer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+ UI Shell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 Detection (mock → real YOLO model)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History, Alerts, Reports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Fleet Management Module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Incremental?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module delivered working value early.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Easier to test and demo at every stage.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Accommodates evolving requirements (mock → real ML model).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risk compared to Waterfall.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3E35CF5A-03D7-953A-9387-94354813E5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0459" y="12255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A17EAA8F-11E8-3E58-64FB-3D1DFA6FB7F8}"/>
              </a:ext>
            </a:extLst>
          </p:cNvPr>
          <p:cNvSpPr txBox="1">
            <a:spLocks/>
          </p:cNvSpPr>
          <p:nvPr/>
        </p:nvSpPr>
        <p:spPr>
          <a:xfrm>
            <a:off x="1524000" y="6629400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itchFamily="18" charset="0"/>
              </a:rPr>
              <a:t>Smart Waste Management System (SWMS)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What is iterative and incremental development? Process, examples -  LogRocket Blog">
            <a:extLst>
              <a:ext uri="{FF2B5EF4-FFF2-40B4-BE49-F238E27FC236}">
                <a16:creationId xmlns:a16="http://schemas.microsoft.com/office/drawing/2014/main" id="{457AEE7D-144D-B3A5-6897-DAEE001797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6550" y="2002790"/>
            <a:ext cx="5067300" cy="285242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CFB3A1-898C-6F52-B27C-C5F82B0EC99C}"/>
              </a:ext>
            </a:extLst>
          </p:cNvPr>
          <p:cNvSpPr txBox="1"/>
          <p:nvPr/>
        </p:nvSpPr>
        <p:spPr>
          <a:xfrm>
            <a:off x="8155574" y="5381675"/>
            <a:ext cx="24721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1: Incremental Process Model</a:t>
            </a:r>
          </a:p>
        </p:txBody>
      </p:sp>
    </p:spTree>
    <p:extLst>
      <p:ext uri="{BB962C8B-B14F-4D97-AF65-F5344CB8AC3E}">
        <p14:creationId xmlns:p14="http://schemas.microsoft.com/office/powerpoint/2010/main" val="1014719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DB6C6-8747-FD29-9715-5B21F8341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6788B-C83C-4B9F-2BEE-E31EDE49C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171857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                     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78B001FA-C620-832A-F455-7FE2E4D718A8}"/>
              </a:ext>
            </a:extLst>
          </p:cNvPr>
          <p:cNvSpPr txBox="1">
            <a:spLocks/>
          </p:cNvSpPr>
          <p:nvPr/>
        </p:nvSpPr>
        <p:spPr>
          <a:xfrm>
            <a:off x="8534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B6F15528-21DE-4FAA-801E-634DDDAF4B2B}" type="slidenum">
              <a:rPr lang="en-US" sz="1200">
                <a:latin typeface="Rockwell" pitchFamily="18" charset="0"/>
              </a:rPr>
              <a:pPr algn="r">
                <a:defRPr/>
              </a:pPr>
              <a:t>7</a:t>
            </a:fld>
            <a:endParaRPr lang="en-US" sz="1200" dirty="0">
              <a:latin typeface="Rockwell" pitchFamily="18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EF4E0BCC-0A13-D4B5-1435-6462FEAE1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148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A57F8239-4FC8-F978-8C38-F864EA95F1A1}"/>
              </a:ext>
            </a:extLst>
          </p:cNvPr>
          <p:cNvSpPr txBox="1">
            <a:spLocks/>
          </p:cNvSpPr>
          <p:nvPr/>
        </p:nvSpPr>
        <p:spPr>
          <a:xfrm>
            <a:off x="1880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Feasibility Analysis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1FD214F-F5BE-3679-A0A0-26F2E92B5A87}"/>
              </a:ext>
            </a:extLst>
          </p:cNvPr>
          <p:cNvSpPr txBox="1">
            <a:spLocks/>
          </p:cNvSpPr>
          <p:nvPr/>
        </p:nvSpPr>
        <p:spPr>
          <a:xfrm>
            <a:off x="533400" y="1066800"/>
            <a:ext cx="11050738" cy="5181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stack (PyQt5, SQLAlchemy, PyTorch/YOLO) - well documented.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on standard Windows / Linux machines, no special hardware required.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Feasibility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Open-source dependencies - zero licensing cost.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SQLite DB - no server infrastructure needed.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Feasibility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Intuitive UI with role-based menus; minimal training required.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offline; suitable for low-connectivity sites.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7826ADB3-D8CC-17E0-EE4C-EB7669A172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0459" y="12255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5A16E24A-224D-CFC9-D5A4-7120065B5333}"/>
              </a:ext>
            </a:extLst>
          </p:cNvPr>
          <p:cNvSpPr txBox="1">
            <a:spLocks/>
          </p:cNvSpPr>
          <p:nvPr/>
        </p:nvSpPr>
        <p:spPr>
          <a:xfrm>
            <a:off x="1524000" y="6629400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itchFamily="18" charset="0"/>
              </a:rPr>
              <a:t>Smart Waste Management System (SWMS)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1252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1F5F7-6665-638E-787E-89AC41607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C9DED-0B4F-625E-F1AC-E774FE108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171857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                     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73C6F95C-C6FA-736E-5308-0570B5CAE082}"/>
              </a:ext>
            </a:extLst>
          </p:cNvPr>
          <p:cNvSpPr txBox="1">
            <a:spLocks/>
          </p:cNvSpPr>
          <p:nvPr/>
        </p:nvSpPr>
        <p:spPr>
          <a:xfrm>
            <a:off x="8534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B6F15528-21DE-4FAA-801E-634DDDAF4B2B}" type="slidenum">
              <a:rPr lang="en-US" sz="1200">
                <a:latin typeface="Rockwell" pitchFamily="18" charset="0"/>
              </a:rPr>
              <a:pPr algn="r">
                <a:defRPr/>
              </a:pPr>
              <a:t>8</a:t>
            </a:fld>
            <a:endParaRPr lang="en-US" sz="1200" dirty="0">
              <a:latin typeface="Rockwell" pitchFamily="18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F4906599-5982-9F77-48CE-C485EF424F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148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DCB1E208-99C3-5204-AD42-5FB64713E868}"/>
              </a:ext>
            </a:extLst>
          </p:cNvPr>
          <p:cNvSpPr txBox="1">
            <a:spLocks/>
          </p:cNvSpPr>
          <p:nvPr/>
        </p:nvSpPr>
        <p:spPr>
          <a:xfrm>
            <a:off x="1880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Requirement Engineering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BF0D6A4-0A4D-B200-CCE4-B13CFC471C15}"/>
              </a:ext>
            </a:extLst>
          </p:cNvPr>
          <p:cNvSpPr txBox="1">
            <a:spLocks/>
          </p:cNvSpPr>
          <p:nvPr/>
        </p:nvSpPr>
        <p:spPr>
          <a:xfrm>
            <a:off x="533400" y="1066800"/>
            <a:ext cx="11050738" cy="2514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Requirement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A02482A2-384A-FC47-B4C6-54B89C04F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0459" y="12255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4F13AF6A-2931-5A84-CD1D-BC01CF737D6B}"/>
              </a:ext>
            </a:extLst>
          </p:cNvPr>
          <p:cNvSpPr txBox="1">
            <a:spLocks/>
          </p:cNvSpPr>
          <p:nvPr/>
        </p:nvSpPr>
        <p:spPr>
          <a:xfrm>
            <a:off x="1524000" y="6629400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itchFamily="18" charset="0"/>
              </a:rPr>
              <a:t>Smart Waste Management System (SWMS)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6042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C0FF5-23DB-1566-7C68-2B84E75C9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C5176-6EB4-9874-9382-12AF14815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171857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                     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E2D3C7BE-7318-E033-B327-1F8F2CB7AFFD}"/>
              </a:ext>
            </a:extLst>
          </p:cNvPr>
          <p:cNvSpPr txBox="1">
            <a:spLocks/>
          </p:cNvSpPr>
          <p:nvPr/>
        </p:nvSpPr>
        <p:spPr>
          <a:xfrm>
            <a:off x="8534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B6F15528-21DE-4FAA-801E-634DDDAF4B2B}" type="slidenum">
              <a:rPr lang="en-US" sz="1200">
                <a:latin typeface="Rockwell" pitchFamily="18" charset="0"/>
              </a:rPr>
              <a:pPr algn="r">
                <a:defRPr/>
              </a:pPr>
              <a:t>9</a:t>
            </a:fld>
            <a:endParaRPr lang="en-US" sz="1200" dirty="0">
              <a:latin typeface="Rockwell" pitchFamily="18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278BC6A2-64CD-B222-4E6B-8D84096CE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148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4DEC79D2-EBCA-6890-1EE9-7FDA8CFF0B47}"/>
              </a:ext>
            </a:extLst>
          </p:cNvPr>
          <p:cNvSpPr txBox="1">
            <a:spLocks/>
          </p:cNvSpPr>
          <p:nvPr/>
        </p:nvSpPr>
        <p:spPr>
          <a:xfrm>
            <a:off x="1880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User Requirements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F4F329DB-F7F7-9781-7BAD-F89513E398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0459" y="12255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6A134B34-7FB7-6EB2-1792-2F2A649FCCC1}"/>
              </a:ext>
            </a:extLst>
          </p:cNvPr>
          <p:cNvSpPr txBox="1">
            <a:spLocks/>
          </p:cNvSpPr>
          <p:nvPr/>
        </p:nvSpPr>
        <p:spPr>
          <a:xfrm>
            <a:off x="1524000" y="6629400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itchFamily="18" charset="0"/>
              </a:rPr>
              <a:t>Smart Waste Management System (SWMS)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69EA37-548D-D23F-D7E7-86DC0FEDE4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7548" y="766391"/>
            <a:ext cx="6296904" cy="532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450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5B9EE-8619-1755-2E4D-789D38C61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6817C-2E2F-AB29-6601-9A7C545CD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171857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                     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13C45F06-366B-0B6A-CBC6-01B4551BF021}"/>
              </a:ext>
            </a:extLst>
          </p:cNvPr>
          <p:cNvSpPr txBox="1">
            <a:spLocks/>
          </p:cNvSpPr>
          <p:nvPr/>
        </p:nvSpPr>
        <p:spPr>
          <a:xfrm>
            <a:off x="8534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B6F15528-21DE-4FAA-801E-634DDDAF4B2B}" type="slidenum">
              <a:rPr lang="en-US" sz="1200">
                <a:latin typeface="Rockwell" pitchFamily="18" charset="0"/>
              </a:rPr>
              <a:pPr algn="r">
                <a:defRPr/>
              </a:pPr>
              <a:t>10</a:t>
            </a:fld>
            <a:endParaRPr lang="en-US" sz="1200" dirty="0">
              <a:latin typeface="Rockwell" pitchFamily="18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48EC484C-4890-E598-5219-50B20B8D4A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148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02583B9-541E-CABF-8703-5AB538A0F2F7}"/>
              </a:ext>
            </a:extLst>
          </p:cNvPr>
          <p:cNvSpPr txBox="1">
            <a:spLocks/>
          </p:cNvSpPr>
          <p:nvPr/>
        </p:nvSpPr>
        <p:spPr>
          <a:xfrm>
            <a:off x="1880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System Requirements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3A6CE0A0-610A-E0F9-1FAD-40977B3B57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0459" y="12255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8FAC2DEB-68F8-5B36-C9AF-BE3C6800BD22}"/>
              </a:ext>
            </a:extLst>
          </p:cNvPr>
          <p:cNvSpPr txBox="1">
            <a:spLocks/>
          </p:cNvSpPr>
          <p:nvPr/>
        </p:nvSpPr>
        <p:spPr>
          <a:xfrm>
            <a:off x="1524000" y="6629400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itchFamily="18" charset="0"/>
              </a:rPr>
              <a:t>Smart Waste Management System (SWMS)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B4433D-1EA1-52D5-0E90-490A5D396128}"/>
              </a:ext>
            </a:extLst>
          </p:cNvPr>
          <p:cNvSpPr txBox="1"/>
          <p:nvPr/>
        </p:nvSpPr>
        <p:spPr>
          <a:xfrm>
            <a:off x="533400" y="990600"/>
            <a:ext cx="11050738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and Session Handling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 User launches the app and is presented with a login screen.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 Users type their login name and password and click on the Login button.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 The stored bcrypt hash for the username is retrieved and compared against the password entered.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1.4 If the match succeeds, the system updates the 'Last Logged In' date on that user and brings up the main app window.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1.5 On a failed match, the system shows an “Invalid credentials” message and keeps the user on the login screen.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1.6 The user's role (admin, supervisor, or operator) is loaded, and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check_permission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helper is exposed that takes the hierarchy of admin, supervisor, and operator into account for all actions protected by the system.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1.7 When the user clicks on Logout in the sidebar, it will terminate the current session and log the user out of the computer.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131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462D9-7D28-2C56-9A67-A918D290F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7A6A9-FA21-E186-74DD-C5C129CAB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171857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                     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0FDA462C-A0E6-32E0-7A57-7D4F0C34E7F9}"/>
              </a:ext>
            </a:extLst>
          </p:cNvPr>
          <p:cNvSpPr txBox="1">
            <a:spLocks/>
          </p:cNvSpPr>
          <p:nvPr/>
        </p:nvSpPr>
        <p:spPr>
          <a:xfrm>
            <a:off x="8534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B6F15528-21DE-4FAA-801E-634DDDAF4B2B}" type="slidenum">
              <a:rPr lang="en-US" sz="1200">
                <a:latin typeface="Rockwell" pitchFamily="18" charset="0"/>
              </a:rPr>
              <a:pPr algn="r">
                <a:defRPr/>
              </a:pPr>
              <a:t>11</a:t>
            </a:fld>
            <a:endParaRPr lang="en-US" sz="1200" dirty="0">
              <a:latin typeface="Rockwell" pitchFamily="18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8DED78ED-2050-D407-4CEE-4B81FF19B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148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5274D25E-4788-EF51-7DF6-85D3205A7D24}"/>
              </a:ext>
            </a:extLst>
          </p:cNvPr>
          <p:cNvSpPr txBox="1">
            <a:spLocks/>
          </p:cNvSpPr>
          <p:nvPr/>
        </p:nvSpPr>
        <p:spPr>
          <a:xfrm>
            <a:off x="1880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System Requirements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8D73F71B-02E2-9F98-EFCF-00DC168ADE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0459" y="12255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94116BE9-AAEA-6150-2BF2-EE46FB44385C}"/>
              </a:ext>
            </a:extLst>
          </p:cNvPr>
          <p:cNvSpPr txBox="1">
            <a:spLocks/>
          </p:cNvSpPr>
          <p:nvPr/>
        </p:nvSpPr>
        <p:spPr>
          <a:xfrm>
            <a:off x="1524000" y="6629400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itchFamily="18" charset="0"/>
              </a:rPr>
              <a:t>Smart Waste Management System (SWMS)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76CB96-54AC-5170-6BE4-5A94BCB72477}"/>
              </a:ext>
            </a:extLst>
          </p:cNvPr>
          <p:cNvSpPr txBox="1"/>
          <p:nvPr/>
        </p:nvSpPr>
        <p:spPr>
          <a:xfrm>
            <a:off x="533400" y="990600"/>
            <a:ext cx="11050738" cy="419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User Management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 Admin clicks on Users from the left side menu to open the user’s management screen.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 Admin pushes the Add User button, enters username, full name, email, role, and initial password, and clicks Save.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 The password is hashed in the system using bcrypt, the new user is added, and an entry is added to the activity log.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2.4 Admin clicks on a user and then Edit to update the user's name, emails, or role, then Save to save the change.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2.5 Admin chooses a user and clicks Deactivate to disable the account, which is not possible if the user selected to be deactivated is the currently logged-in admin.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2.6 Admin decides to reactivate the user and clicks Reactivate to restore access to the user.</a:t>
            </a:r>
          </a:p>
        </p:txBody>
      </p:sp>
    </p:spTree>
    <p:extLst>
      <p:ext uri="{BB962C8B-B14F-4D97-AF65-F5344CB8AC3E}">
        <p14:creationId xmlns:p14="http://schemas.microsoft.com/office/powerpoint/2010/main" val="34451327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8E613-DE92-34B7-0813-0A9465C63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74B94-F774-780A-B99E-37564810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171857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                     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0C5AD40-BE9A-53E3-A3CC-15A50C0DDF3B}"/>
              </a:ext>
            </a:extLst>
          </p:cNvPr>
          <p:cNvSpPr txBox="1">
            <a:spLocks/>
          </p:cNvSpPr>
          <p:nvPr/>
        </p:nvSpPr>
        <p:spPr>
          <a:xfrm>
            <a:off x="8534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B6F15528-21DE-4FAA-801E-634DDDAF4B2B}" type="slidenum">
              <a:rPr lang="en-US" sz="1200">
                <a:latin typeface="Rockwell" pitchFamily="18" charset="0"/>
              </a:rPr>
              <a:pPr algn="r">
                <a:defRPr/>
              </a:pPr>
              <a:t>12</a:t>
            </a:fld>
            <a:endParaRPr lang="en-US" sz="1200" dirty="0">
              <a:latin typeface="Rockwell" pitchFamily="18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89D25B34-06EF-AAD7-5A57-55839AB7D2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148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88C544A7-6074-7165-AA45-98E09F6316C2}"/>
              </a:ext>
            </a:extLst>
          </p:cNvPr>
          <p:cNvSpPr txBox="1">
            <a:spLocks/>
          </p:cNvSpPr>
          <p:nvPr/>
        </p:nvSpPr>
        <p:spPr>
          <a:xfrm>
            <a:off x="1880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Functional Requirements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376E9136-2542-8CE9-42D3-5AE6A273A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0459" y="12255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578CC901-DAB0-28A6-FEC0-BEF0ECC8C092}"/>
              </a:ext>
            </a:extLst>
          </p:cNvPr>
          <p:cNvSpPr txBox="1">
            <a:spLocks/>
          </p:cNvSpPr>
          <p:nvPr/>
        </p:nvSpPr>
        <p:spPr>
          <a:xfrm>
            <a:off x="1524000" y="6629400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itchFamily="18" charset="0"/>
              </a:rPr>
              <a:t>Smart Waste Management System (SWMS)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FF47A7-6F5A-BBAC-E715-8F826D4991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5600" y="741374"/>
            <a:ext cx="6548905" cy="5775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455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58676-B4E8-A2E7-A01B-93DF28C70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6B080-048E-3B27-3624-7E2FD7113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171857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                     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68F1A909-F882-9669-C6E1-975A89B88414}"/>
              </a:ext>
            </a:extLst>
          </p:cNvPr>
          <p:cNvSpPr txBox="1">
            <a:spLocks/>
          </p:cNvSpPr>
          <p:nvPr/>
        </p:nvSpPr>
        <p:spPr>
          <a:xfrm>
            <a:off x="8534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B6F15528-21DE-4FAA-801E-634DDDAF4B2B}" type="slidenum">
              <a:rPr lang="en-US" sz="1200">
                <a:latin typeface="Rockwell" pitchFamily="18" charset="0"/>
              </a:rPr>
              <a:pPr algn="r">
                <a:defRPr/>
              </a:pPr>
              <a:t>13</a:t>
            </a:fld>
            <a:endParaRPr lang="en-US" sz="1200" dirty="0">
              <a:latin typeface="Rockwell" pitchFamily="18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6662B05A-4EF7-73A4-961B-C5CC7B8F2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148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323BD25-52D5-31AF-53DB-7F4DB04E1249}"/>
              </a:ext>
            </a:extLst>
          </p:cNvPr>
          <p:cNvSpPr txBox="1">
            <a:spLocks/>
          </p:cNvSpPr>
          <p:nvPr/>
        </p:nvSpPr>
        <p:spPr>
          <a:xfrm>
            <a:off x="1880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Non-Functional Requirements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A04EDB59-5B2B-3D6C-E316-587FFFBF9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0459" y="12255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51E87C12-8B4A-7FDF-CC46-70A59D4E9FA4}"/>
              </a:ext>
            </a:extLst>
          </p:cNvPr>
          <p:cNvSpPr txBox="1">
            <a:spLocks/>
          </p:cNvSpPr>
          <p:nvPr/>
        </p:nvSpPr>
        <p:spPr>
          <a:xfrm>
            <a:off x="1524000" y="6629400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itchFamily="18" charset="0"/>
              </a:rPr>
              <a:t>Smart Waste Management System (SWMS)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930C7F-ACB4-3869-1D32-DAABBD7611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2232" y="971207"/>
            <a:ext cx="6887536" cy="49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928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D8018-8174-499C-435D-51DE8B2D3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9BAAC-E012-FBCD-586E-0ACE36D61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171857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                     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6A6D64EC-E2F6-94D8-2484-154A8527B102}"/>
              </a:ext>
            </a:extLst>
          </p:cNvPr>
          <p:cNvSpPr txBox="1">
            <a:spLocks/>
          </p:cNvSpPr>
          <p:nvPr/>
        </p:nvSpPr>
        <p:spPr>
          <a:xfrm>
            <a:off x="8534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B6F15528-21DE-4FAA-801E-634DDDAF4B2B}" type="slidenum">
              <a:rPr lang="en-US" sz="1200">
                <a:latin typeface="Rockwell" pitchFamily="18" charset="0"/>
              </a:rPr>
              <a:pPr algn="r">
                <a:defRPr/>
              </a:pPr>
              <a:t>14</a:t>
            </a:fld>
            <a:endParaRPr lang="en-US" sz="1200" dirty="0">
              <a:latin typeface="Rockwell" pitchFamily="18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B7D1FE35-E1AD-B08A-7849-BB9924710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148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AB6BD4A-DD9E-9DB7-831D-692623B65250}"/>
              </a:ext>
            </a:extLst>
          </p:cNvPr>
          <p:cNvSpPr txBox="1">
            <a:spLocks/>
          </p:cNvSpPr>
          <p:nvPr/>
        </p:nvSpPr>
        <p:spPr>
          <a:xfrm>
            <a:off x="1880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Use Case Diagram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43F644F5-6D26-0BC0-9594-8007E720C8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0459" y="12255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5C529DAE-9698-C0FE-2D67-E74568166025}"/>
              </a:ext>
            </a:extLst>
          </p:cNvPr>
          <p:cNvSpPr txBox="1">
            <a:spLocks/>
          </p:cNvSpPr>
          <p:nvPr/>
        </p:nvSpPr>
        <p:spPr>
          <a:xfrm>
            <a:off x="2055875" y="6608708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itchFamily="18" charset="0"/>
              </a:rPr>
              <a:t>Smart Waste Management System (SWMS)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6E0033-DD0A-F714-406E-C5A589B78B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0450" y="731825"/>
            <a:ext cx="5527052" cy="53943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093392-E314-3ABE-42A9-FE9AA7E86E56}"/>
              </a:ext>
            </a:extLst>
          </p:cNvPr>
          <p:cNvSpPr txBox="1"/>
          <p:nvPr/>
        </p:nvSpPr>
        <p:spPr>
          <a:xfrm>
            <a:off x="4933998" y="6228942"/>
            <a:ext cx="19399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2: Use Case Diagram</a:t>
            </a:r>
          </a:p>
        </p:txBody>
      </p:sp>
    </p:spTree>
    <p:extLst>
      <p:ext uri="{BB962C8B-B14F-4D97-AF65-F5344CB8AC3E}">
        <p14:creationId xmlns:p14="http://schemas.microsoft.com/office/powerpoint/2010/main" val="7998644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6CF6-1F12-07BB-9BE6-E339410DF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86B99-61B7-FD63-C107-685C7C7B3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171857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                     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89DFDB7C-5A14-0FB0-3BB8-D182FF846EF3}"/>
              </a:ext>
            </a:extLst>
          </p:cNvPr>
          <p:cNvSpPr txBox="1">
            <a:spLocks/>
          </p:cNvSpPr>
          <p:nvPr/>
        </p:nvSpPr>
        <p:spPr>
          <a:xfrm>
            <a:off x="8534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B6F15528-21DE-4FAA-801E-634DDDAF4B2B}" type="slidenum">
              <a:rPr lang="en-US" sz="1200">
                <a:latin typeface="Rockwell" pitchFamily="18" charset="0"/>
              </a:rPr>
              <a:pPr algn="r">
                <a:defRPr/>
              </a:pPr>
              <a:t>15</a:t>
            </a:fld>
            <a:endParaRPr lang="en-US" sz="1200" dirty="0">
              <a:latin typeface="Rockwell" pitchFamily="18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30DBE8C7-71E3-4D88-F4A0-52CB9D2A87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148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6640A463-F1E0-CB97-430F-78E1EEBB26C1}"/>
              </a:ext>
            </a:extLst>
          </p:cNvPr>
          <p:cNvSpPr txBox="1">
            <a:spLocks/>
          </p:cNvSpPr>
          <p:nvPr/>
        </p:nvSpPr>
        <p:spPr>
          <a:xfrm>
            <a:off x="2072640" y="3200400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System Planning &amp; Scheduling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92724325-F4D6-7588-7094-A335CE3D1F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0459" y="12255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10564F42-D2FB-9FC0-555C-6E903E9DDA10}"/>
              </a:ext>
            </a:extLst>
          </p:cNvPr>
          <p:cNvSpPr txBox="1">
            <a:spLocks/>
          </p:cNvSpPr>
          <p:nvPr/>
        </p:nvSpPr>
        <p:spPr>
          <a:xfrm>
            <a:off x="2055875" y="6608708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itchFamily="18" charset="0"/>
              </a:rPr>
              <a:t>Smart Waste Management System (SWMS)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964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8D433-6BBD-9CB0-9BFB-A7AA25640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F7F21-7988-11ED-DED3-FA5463C27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171857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                     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2C1C15A4-D07A-D3E9-F8D6-BB2B9C0DC22B}"/>
              </a:ext>
            </a:extLst>
          </p:cNvPr>
          <p:cNvSpPr txBox="1">
            <a:spLocks/>
          </p:cNvSpPr>
          <p:nvPr/>
        </p:nvSpPr>
        <p:spPr>
          <a:xfrm>
            <a:off x="8534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B6F15528-21DE-4FAA-801E-634DDDAF4B2B}" type="slidenum">
              <a:rPr lang="en-US" sz="1200">
                <a:latin typeface="Rockwell" pitchFamily="18" charset="0"/>
              </a:rPr>
              <a:pPr algn="r">
                <a:defRPr/>
              </a:pPr>
              <a:t>16</a:t>
            </a:fld>
            <a:endParaRPr lang="en-US" sz="1200" dirty="0">
              <a:latin typeface="Rockwell" pitchFamily="18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D6BA05EB-70BF-07FE-5FB0-3C5F3A87FA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148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4E9B89F-2221-E658-E364-EA198DF8CF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0459" y="12255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1A775CEB-BFF0-F510-1367-BE2C061E6B21}"/>
              </a:ext>
            </a:extLst>
          </p:cNvPr>
          <p:cNvSpPr txBox="1">
            <a:spLocks/>
          </p:cNvSpPr>
          <p:nvPr/>
        </p:nvSpPr>
        <p:spPr>
          <a:xfrm>
            <a:off x="2055875" y="6608708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itchFamily="18" charset="0"/>
              </a:rPr>
              <a:t>Smart Waste Management System (SWMS)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FC0702-6CEF-2BE8-02A9-7EC6AC3DC642}"/>
              </a:ext>
            </a:extLst>
          </p:cNvPr>
          <p:cNvSpPr txBox="1"/>
          <p:nvPr/>
        </p:nvSpPr>
        <p:spPr>
          <a:xfrm>
            <a:off x="4880763" y="5532856"/>
            <a:ext cx="24304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3: Gantt Chart for the Project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89998F-06CF-3C6D-2A32-C3B9BBC61B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875" y="228600"/>
            <a:ext cx="9220200" cy="505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462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C03CB-B62D-7361-AC55-41ED4386C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0E00C-AD1A-1494-4E81-B763C7905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171857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                     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6953BE56-2197-46B5-99D3-75EEE5ED2E60}"/>
              </a:ext>
            </a:extLst>
          </p:cNvPr>
          <p:cNvSpPr txBox="1">
            <a:spLocks/>
          </p:cNvSpPr>
          <p:nvPr/>
        </p:nvSpPr>
        <p:spPr>
          <a:xfrm>
            <a:off x="8534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B6F15528-21DE-4FAA-801E-634DDDAF4B2B}" type="slidenum">
              <a:rPr lang="en-US" sz="1200">
                <a:latin typeface="Rockwell" pitchFamily="18" charset="0"/>
              </a:rPr>
              <a:pPr algn="r">
                <a:defRPr/>
              </a:pPr>
              <a:t>17</a:t>
            </a:fld>
            <a:endParaRPr lang="en-US" sz="1200" dirty="0">
              <a:latin typeface="Rockwell" pitchFamily="18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2072DAEE-6F82-B75C-51DD-264C4DB5C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148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1E72E940-C3A1-A808-572F-D33DEC822574}"/>
              </a:ext>
            </a:extLst>
          </p:cNvPr>
          <p:cNvSpPr txBox="1">
            <a:spLocks/>
          </p:cNvSpPr>
          <p:nvPr/>
        </p:nvSpPr>
        <p:spPr>
          <a:xfrm>
            <a:off x="1880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Function Point Estimation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44583509-42E9-EDB9-CEF7-CB8550DD0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0459" y="12255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DF2F6DF3-74C0-4BE5-9FA2-B6D903769ECC}"/>
              </a:ext>
            </a:extLst>
          </p:cNvPr>
          <p:cNvSpPr txBox="1">
            <a:spLocks/>
          </p:cNvSpPr>
          <p:nvPr/>
        </p:nvSpPr>
        <p:spPr>
          <a:xfrm>
            <a:off x="2055875" y="6608708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itchFamily="18" charset="0"/>
              </a:rPr>
              <a:t>Smart Waste Management System (SWMS)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E12076-83C0-B691-BE25-A7B30A69DF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8085" y="727867"/>
            <a:ext cx="5515831" cy="15502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1F22D7-6B49-6332-D552-D1D668A8A0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8085" y="2257099"/>
            <a:ext cx="5515830" cy="4203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183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709C6-6AA3-F1EC-2C9D-FFE5D978D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3B363-274B-25B0-1507-53D9D2260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171857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                     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47C76A3-20AF-CE2D-A6BA-27A7D5235E73}"/>
              </a:ext>
            </a:extLst>
          </p:cNvPr>
          <p:cNvSpPr txBox="1">
            <a:spLocks/>
          </p:cNvSpPr>
          <p:nvPr/>
        </p:nvSpPr>
        <p:spPr>
          <a:xfrm>
            <a:off x="8534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B6F15528-21DE-4FAA-801E-634DDDAF4B2B}" type="slidenum">
              <a:rPr lang="en-US" sz="1200">
                <a:latin typeface="Rockwell" pitchFamily="18" charset="0"/>
              </a:rPr>
              <a:pPr algn="r">
                <a:defRPr/>
              </a:pPr>
              <a:t>18</a:t>
            </a:fld>
            <a:endParaRPr lang="en-US" sz="1200" dirty="0">
              <a:latin typeface="Rockwell" pitchFamily="18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3F9D8857-2DD0-C71C-5EAE-CD7CC492C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148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6686D77E-9011-C5D3-20E4-A4825BC30765}"/>
              </a:ext>
            </a:extLst>
          </p:cNvPr>
          <p:cNvSpPr txBox="1">
            <a:spLocks/>
          </p:cNvSpPr>
          <p:nvPr/>
        </p:nvSpPr>
        <p:spPr>
          <a:xfrm>
            <a:off x="1880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Function Point Estimation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B1D0843E-F208-60D0-0945-57DE533BC6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0459" y="12255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6D5F51DF-9B46-7174-8F88-F9A57A5BB5EB}"/>
              </a:ext>
            </a:extLst>
          </p:cNvPr>
          <p:cNvSpPr txBox="1">
            <a:spLocks/>
          </p:cNvSpPr>
          <p:nvPr/>
        </p:nvSpPr>
        <p:spPr>
          <a:xfrm>
            <a:off x="2055875" y="6608708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itchFamily="18" charset="0"/>
              </a:rPr>
              <a:t>Smart Waste Management System (SWMS)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86221F-6221-6B48-6E40-55D878BBDA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399" y="939953"/>
            <a:ext cx="5272516" cy="14818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4ADAD7-E2E8-EBC4-7EDE-3069CCB47D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1399" y="2442517"/>
            <a:ext cx="5272515" cy="40179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9A04F2F-2B50-45B1-4111-2D0D25D2B3E5}"/>
              </a:ext>
            </a:extLst>
          </p:cNvPr>
          <p:cNvSpPr txBox="1"/>
          <p:nvPr/>
        </p:nvSpPr>
        <p:spPr>
          <a:xfrm>
            <a:off x="2856694" y="678767"/>
            <a:ext cx="60945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Table 6.1 Functionality, Input, and Output.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279077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AEF7A-1D48-8739-9BA0-EE0364405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00947-ACB6-582B-AF91-24CE51A1A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171857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                     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854A163B-1FB9-0D1B-D37C-17DA3434C31D}"/>
              </a:ext>
            </a:extLst>
          </p:cNvPr>
          <p:cNvSpPr txBox="1">
            <a:spLocks/>
          </p:cNvSpPr>
          <p:nvPr/>
        </p:nvSpPr>
        <p:spPr>
          <a:xfrm>
            <a:off x="8534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B6F15528-21DE-4FAA-801E-634DDDAF4B2B}" type="slidenum">
              <a:rPr lang="en-US" sz="1200">
                <a:latin typeface="Rockwell" pitchFamily="18" charset="0"/>
              </a:rPr>
              <a:pPr algn="r">
                <a:defRPr/>
              </a:pPr>
              <a:t>19</a:t>
            </a:fld>
            <a:endParaRPr lang="en-US" sz="1200" dirty="0">
              <a:latin typeface="Rockwell" pitchFamily="18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96BEDEE1-5DE0-C348-1593-A65BAAB30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148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D29CB4E9-3A2E-9A84-3539-153712937857}"/>
              </a:ext>
            </a:extLst>
          </p:cNvPr>
          <p:cNvSpPr txBox="1">
            <a:spLocks/>
          </p:cNvSpPr>
          <p:nvPr/>
        </p:nvSpPr>
        <p:spPr>
          <a:xfrm>
            <a:off x="1880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Function Point Estimation (cont.)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49CA0DD6-0BF7-94D2-C474-9A1CCCC7F0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0459" y="12255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1AE3B614-F2AC-FEF7-C75F-B377E82FBB91}"/>
              </a:ext>
            </a:extLst>
          </p:cNvPr>
          <p:cNvSpPr txBox="1">
            <a:spLocks/>
          </p:cNvSpPr>
          <p:nvPr/>
        </p:nvSpPr>
        <p:spPr>
          <a:xfrm>
            <a:off x="2055875" y="6608708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itchFamily="18" charset="0"/>
              </a:rPr>
              <a:t>Smart Waste Management System (SWMS)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A989DC-28DA-070B-4DC0-47631EC69B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6655" y="762000"/>
            <a:ext cx="4934639" cy="24387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40CF61B-A273-6668-B43C-2C402F2C11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3812" y="3333682"/>
            <a:ext cx="4820323" cy="173379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FB5E7FE-1525-6258-310D-A9D19DC3AF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4254" y="5067474"/>
            <a:ext cx="4944165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899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31170-835A-DDF1-310E-0E0D1A64C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79F02-BE70-B873-BD96-09D5CBE31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171857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                     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092CB3D7-CF97-D461-4CD8-B48380AC9043}"/>
              </a:ext>
            </a:extLst>
          </p:cNvPr>
          <p:cNvSpPr txBox="1">
            <a:spLocks/>
          </p:cNvSpPr>
          <p:nvPr/>
        </p:nvSpPr>
        <p:spPr>
          <a:xfrm>
            <a:off x="8534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B6F15528-21DE-4FAA-801E-634DDDAF4B2B}" type="slidenum">
              <a:rPr lang="en-US" sz="1200">
                <a:latin typeface="Rockwell" pitchFamily="18" charset="0"/>
              </a:rPr>
              <a:pPr algn="r">
                <a:defRPr/>
              </a:pPr>
              <a:t>20</a:t>
            </a:fld>
            <a:endParaRPr lang="en-US" sz="1200" dirty="0">
              <a:latin typeface="Rockwell" pitchFamily="18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6BAACE53-8196-6780-7389-BB2AF16424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148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D494416B-EA0A-9918-DE35-73AE501EBEB8}"/>
              </a:ext>
            </a:extLst>
          </p:cNvPr>
          <p:cNvSpPr txBox="1">
            <a:spLocks/>
          </p:cNvSpPr>
          <p:nvPr/>
        </p:nvSpPr>
        <p:spPr>
          <a:xfrm>
            <a:off x="1880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Function Point Estimation (cont.)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8ABAB67D-DB81-AC75-C2DC-7EBFFE313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0459" y="12255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AD0622C5-9FAB-1810-52DA-6677E793D200}"/>
              </a:ext>
            </a:extLst>
          </p:cNvPr>
          <p:cNvSpPr txBox="1">
            <a:spLocks/>
          </p:cNvSpPr>
          <p:nvPr/>
        </p:nvSpPr>
        <p:spPr>
          <a:xfrm>
            <a:off x="2055875" y="6608708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itchFamily="18" charset="0"/>
              </a:rPr>
              <a:t>Smart Waste Management System (SWMS)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ACBAD6-E269-C41D-E589-5036234516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4398" y="838200"/>
            <a:ext cx="5201376" cy="22672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54F59F-2C60-8931-67E7-17586C507D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0971" y="3105466"/>
            <a:ext cx="4706007" cy="9050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1222992-00DC-26A3-437E-4D1B15E8AB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4260" y="4163928"/>
            <a:ext cx="5039428" cy="178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056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E287C-E211-4060-68C4-332205D7F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07D15-8523-E054-DA2D-BF94F0E33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171857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                     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3996533-27A7-A792-54F0-1DB3C599914E}"/>
              </a:ext>
            </a:extLst>
          </p:cNvPr>
          <p:cNvSpPr txBox="1">
            <a:spLocks/>
          </p:cNvSpPr>
          <p:nvPr/>
        </p:nvSpPr>
        <p:spPr>
          <a:xfrm>
            <a:off x="8534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B6F15528-21DE-4FAA-801E-634DDDAF4B2B}" type="slidenum">
              <a:rPr lang="en-US" sz="1200">
                <a:latin typeface="Rockwell" pitchFamily="18" charset="0"/>
              </a:rPr>
              <a:pPr algn="r">
                <a:defRPr/>
              </a:pPr>
              <a:t>21</a:t>
            </a:fld>
            <a:endParaRPr lang="en-US" sz="1200" dirty="0">
              <a:latin typeface="Rockwell" pitchFamily="18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FC2CFC16-73DE-0BBC-2AA0-DB2A42B929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148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0F5E2DC-C453-E18E-258B-6F4DA64333FB}"/>
              </a:ext>
            </a:extLst>
          </p:cNvPr>
          <p:cNvSpPr txBox="1">
            <a:spLocks/>
          </p:cNvSpPr>
          <p:nvPr/>
        </p:nvSpPr>
        <p:spPr>
          <a:xfrm>
            <a:off x="1880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Function Point Estimation (cont.)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468B128B-307F-777B-1462-1905DB117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0459" y="12255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35370D2C-A5FB-5ACD-54ED-18FE3D8CA934}"/>
              </a:ext>
            </a:extLst>
          </p:cNvPr>
          <p:cNvSpPr txBox="1">
            <a:spLocks/>
          </p:cNvSpPr>
          <p:nvPr/>
        </p:nvSpPr>
        <p:spPr>
          <a:xfrm>
            <a:off x="2055875" y="6608708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itchFamily="18" charset="0"/>
              </a:rPr>
              <a:t>Smart Waste Management System (SWMS)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550069-5813-279D-C404-42653085D1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3364" y="762000"/>
            <a:ext cx="5525271" cy="13146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FFE614-FCDA-3573-EE25-8EF6D0DFFC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6432" y="2113140"/>
            <a:ext cx="5487166" cy="319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1729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D8194-B98E-775E-642B-7267E1801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971F1-2EEB-64C2-2C83-61C66D823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171857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FECD9578-AB61-A7FF-EA7B-315F79D1F0D5}"/>
              </a:ext>
            </a:extLst>
          </p:cNvPr>
          <p:cNvSpPr txBox="1">
            <a:spLocks/>
          </p:cNvSpPr>
          <p:nvPr/>
        </p:nvSpPr>
        <p:spPr>
          <a:xfrm>
            <a:off x="8534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B6F15528-21DE-4FAA-801E-634DDDAF4B2B}" type="slidenum"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pPr algn="r">
                <a:defRPr/>
              </a:pPr>
              <a:t>22</a:t>
            </a:fld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E31C0D0F-1C86-2DC1-F0AB-462D7295D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148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B89284A5-B8B3-D972-79AA-60ABA4BB6E76}"/>
              </a:ext>
            </a:extLst>
          </p:cNvPr>
          <p:cNvSpPr txBox="1">
            <a:spLocks/>
          </p:cNvSpPr>
          <p:nvPr/>
        </p:nvSpPr>
        <p:spPr>
          <a:xfrm>
            <a:off x="1880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Project Estimation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B14CC292-473D-B311-F714-1D4C8B1A99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0459" y="12255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52D4DCC1-E727-29D9-8973-36A59E24BA49}"/>
              </a:ext>
            </a:extLst>
          </p:cNvPr>
          <p:cNvSpPr txBox="1">
            <a:spLocks/>
          </p:cNvSpPr>
          <p:nvPr/>
        </p:nvSpPr>
        <p:spPr>
          <a:xfrm>
            <a:off x="2055875" y="6608708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itchFamily="18" charset="0"/>
              </a:rPr>
              <a:t>Smart Waste Management System (SWMS)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0D82E96-52AC-5EC6-99EB-A44B201109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210728"/>
              </p:ext>
            </p:extLst>
          </p:nvPr>
        </p:nvGraphicFramePr>
        <p:xfrm>
          <a:off x="3478371" y="1981200"/>
          <a:ext cx="5235258" cy="220767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376247">
                  <a:extLst>
                    <a:ext uri="{9D8B030D-6E8A-4147-A177-3AD203B41FA5}">
                      <a16:colId xmlns:a16="http://schemas.microsoft.com/office/drawing/2014/main" val="603485967"/>
                    </a:ext>
                  </a:extLst>
                </a:gridCol>
                <a:gridCol w="2859011">
                  <a:extLst>
                    <a:ext uri="{9D8B030D-6E8A-4147-A177-3AD203B41FA5}">
                      <a16:colId xmlns:a16="http://schemas.microsoft.com/office/drawing/2014/main" val="3083295887"/>
                    </a:ext>
                  </a:extLst>
                </a:gridCol>
              </a:tblGrid>
              <a:tr h="36794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effectLst/>
                        </a:rPr>
                        <a:t>Category</a:t>
                      </a:r>
                      <a:endParaRPr lang="en-US" sz="12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dirty="0">
                          <a:effectLst/>
                        </a:rPr>
                        <a:t>Amount (BDT)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41841485"/>
                  </a:ext>
                </a:extLst>
              </a:tr>
              <a:tr h="36794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Personnel Cost (Table 7.2)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6,26,333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97943091"/>
                  </a:ext>
                </a:extLst>
              </a:tr>
              <a:tr h="36794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Hardware Cost (Table 7.3)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51,000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66601827"/>
                  </a:ext>
                </a:extLst>
              </a:tr>
              <a:tr h="36794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Software Cost (Table 7.4)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55553953"/>
                  </a:ext>
                </a:extLst>
              </a:tr>
              <a:tr h="36794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Other Cost (Table 7.5)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19,000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28635811"/>
                  </a:ext>
                </a:extLst>
              </a:tr>
              <a:tr h="36794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Project Total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6,96,333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44344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3774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EEC7D-7243-FA62-C59A-08D8667DE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3D53B-FFB3-FC56-074F-8C2A26D27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171857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                     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E3155FCD-5C08-404E-1748-832F1A55D1EA}"/>
              </a:ext>
            </a:extLst>
          </p:cNvPr>
          <p:cNvSpPr txBox="1">
            <a:spLocks/>
          </p:cNvSpPr>
          <p:nvPr/>
        </p:nvSpPr>
        <p:spPr>
          <a:xfrm>
            <a:off x="8534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B6F15528-21DE-4FAA-801E-634DDDAF4B2B}" type="slidenum">
              <a:rPr lang="en-US" sz="1200">
                <a:latin typeface="Rockwell" pitchFamily="18" charset="0"/>
              </a:rPr>
              <a:pPr algn="r">
                <a:defRPr/>
              </a:pPr>
              <a:t>23</a:t>
            </a:fld>
            <a:endParaRPr lang="en-US" sz="1200" dirty="0">
              <a:latin typeface="Rockwell" pitchFamily="18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1FE26D50-20FC-675F-F05C-2B43156AA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148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54E3FA2-3D6F-1323-F767-2CAC3FB5F926}"/>
              </a:ext>
            </a:extLst>
          </p:cNvPr>
          <p:cNvSpPr txBox="1">
            <a:spLocks/>
          </p:cNvSpPr>
          <p:nvPr/>
        </p:nvSpPr>
        <p:spPr>
          <a:xfrm>
            <a:off x="2072640" y="3200400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Analysis Modeling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E2F7A958-2F60-C392-1EAC-548F9A2FC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0459" y="12255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D391A626-7B3A-62EC-2096-B1308588ADCA}"/>
              </a:ext>
            </a:extLst>
          </p:cNvPr>
          <p:cNvSpPr txBox="1">
            <a:spLocks/>
          </p:cNvSpPr>
          <p:nvPr/>
        </p:nvSpPr>
        <p:spPr>
          <a:xfrm>
            <a:off x="2055875" y="6608708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itchFamily="18" charset="0"/>
              </a:rPr>
              <a:t>Smart Waste Management System (SWMS)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4136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58799-7950-FCDE-4809-2A1B5C469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DF8E1-8577-8BBA-FD86-92A4B7640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171857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                     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B57B79D-618D-EC6B-E8C7-86DA2A710567}"/>
              </a:ext>
            </a:extLst>
          </p:cNvPr>
          <p:cNvSpPr txBox="1">
            <a:spLocks/>
          </p:cNvSpPr>
          <p:nvPr/>
        </p:nvSpPr>
        <p:spPr>
          <a:xfrm>
            <a:off x="8534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B6F15528-21DE-4FAA-801E-634DDDAF4B2B}" type="slidenum">
              <a:rPr lang="en-US" sz="1200">
                <a:latin typeface="Rockwell" pitchFamily="18" charset="0"/>
              </a:rPr>
              <a:pPr algn="r">
                <a:defRPr/>
              </a:pPr>
              <a:t>24</a:t>
            </a:fld>
            <a:endParaRPr lang="en-US" sz="1200" dirty="0">
              <a:latin typeface="Rockwell" pitchFamily="18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D6824C64-B56C-58F7-60B6-1004F8CCB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148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AAD4EB61-8E4B-680F-BD36-D6847409C275}"/>
              </a:ext>
            </a:extLst>
          </p:cNvPr>
          <p:cNvSpPr txBox="1">
            <a:spLocks/>
          </p:cNvSpPr>
          <p:nvPr/>
        </p:nvSpPr>
        <p:spPr>
          <a:xfrm>
            <a:off x="1880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Activity Diagram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1FE70548-A10D-5742-55B7-CE872C894D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0459" y="12255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D88247F4-4C4E-BF45-EDE4-3EA782FD7FEC}"/>
              </a:ext>
            </a:extLst>
          </p:cNvPr>
          <p:cNvSpPr txBox="1">
            <a:spLocks/>
          </p:cNvSpPr>
          <p:nvPr/>
        </p:nvSpPr>
        <p:spPr>
          <a:xfrm>
            <a:off x="2055875" y="6608708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itchFamily="18" charset="0"/>
              </a:rPr>
              <a:t>Smart Waste Management System (SWMS)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F8FBB9-1A70-6654-4B16-7406465AE988}"/>
              </a:ext>
            </a:extLst>
          </p:cNvPr>
          <p:cNvSpPr txBox="1"/>
          <p:nvPr/>
        </p:nvSpPr>
        <p:spPr>
          <a:xfrm>
            <a:off x="4469240" y="6228942"/>
            <a:ext cx="32535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4.1 Activity Diagram: User Authentication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7253B1-AE71-2750-8EF6-A30EE151B9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1551" y="830519"/>
            <a:ext cx="3488897" cy="5398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1665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68816-C5B9-F259-A63F-CAE20ADA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308F3-08FF-36CE-66D4-6FFF38482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171857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                     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008DAF85-6525-B935-B6D2-0CEE98C690ED}"/>
              </a:ext>
            </a:extLst>
          </p:cNvPr>
          <p:cNvSpPr txBox="1">
            <a:spLocks/>
          </p:cNvSpPr>
          <p:nvPr/>
        </p:nvSpPr>
        <p:spPr>
          <a:xfrm>
            <a:off x="8534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B6F15528-21DE-4FAA-801E-634DDDAF4B2B}" type="slidenum">
              <a:rPr lang="en-US" sz="1200">
                <a:latin typeface="Rockwell" pitchFamily="18" charset="0"/>
              </a:rPr>
              <a:pPr algn="r">
                <a:defRPr/>
              </a:pPr>
              <a:t>25</a:t>
            </a:fld>
            <a:endParaRPr lang="en-US" sz="1200" dirty="0">
              <a:latin typeface="Rockwell" pitchFamily="18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9EAD27FF-F144-A9C5-6CC6-A817E39E8C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148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56D0846B-4612-DB86-256C-F0D59BE5673A}"/>
              </a:ext>
            </a:extLst>
          </p:cNvPr>
          <p:cNvSpPr txBox="1">
            <a:spLocks/>
          </p:cNvSpPr>
          <p:nvPr/>
        </p:nvSpPr>
        <p:spPr>
          <a:xfrm>
            <a:off x="1880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Activity Diagram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1046A33D-1BBF-18A8-1EB7-019035B2B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0459" y="12255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2367B39E-D7ED-D189-C4CB-E5C051C7DB44}"/>
              </a:ext>
            </a:extLst>
          </p:cNvPr>
          <p:cNvSpPr txBox="1">
            <a:spLocks/>
          </p:cNvSpPr>
          <p:nvPr/>
        </p:nvSpPr>
        <p:spPr>
          <a:xfrm>
            <a:off x="2055875" y="6608708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itchFamily="18" charset="0"/>
              </a:rPr>
              <a:t>Smart Waste Management System (SWMS)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5166BC-6181-9EDD-D90A-5C4A1F87D4D8}"/>
              </a:ext>
            </a:extLst>
          </p:cNvPr>
          <p:cNvSpPr txBox="1"/>
          <p:nvPr/>
        </p:nvSpPr>
        <p:spPr>
          <a:xfrm>
            <a:off x="4391125" y="6149119"/>
            <a:ext cx="3025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4.2 Activity Diagram: Waste Detection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7A4BD2-7387-CA35-20CD-CA30AC5180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7514" y="511703"/>
            <a:ext cx="2256971" cy="5454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4248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05B90-1109-4D79-619A-0F6C1D633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F699C-94E8-7DEA-6FA0-81896C98A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171857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                     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7CDD9F07-1954-4CAC-6E12-24E8EE84EBA3}"/>
              </a:ext>
            </a:extLst>
          </p:cNvPr>
          <p:cNvSpPr txBox="1">
            <a:spLocks/>
          </p:cNvSpPr>
          <p:nvPr/>
        </p:nvSpPr>
        <p:spPr>
          <a:xfrm>
            <a:off x="8534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B6F15528-21DE-4FAA-801E-634DDDAF4B2B}" type="slidenum">
              <a:rPr lang="en-US" sz="1200">
                <a:latin typeface="Rockwell" pitchFamily="18" charset="0"/>
              </a:rPr>
              <a:pPr algn="r">
                <a:defRPr/>
              </a:pPr>
              <a:t>26</a:t>
            </a:fld>
            <a:endParaRPr lang="en-US" sz="1200" dirty="0">
              <a:latin typeface="Rockwell" pitchFamily="18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A37CAE01-894E-B57E-B96B-17EE9BCEC0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148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6C3590E-B331-4941-3B01-5E3154320D86}"/>
              </a:ext>
            </a:extLst>
          </p:cNvPr>
          <p:cNvSpPr txBox="1">
            <a:spLocks/>
          </p:cNvSpPr>
          <p:nvPr/>
        </p:nvSpPr>
        <p:spPr>
          <a:xfrm>
            <a:off x="1880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Activity Diagram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EF120E69-F176-E990-655A-7B854E9130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0459" y="12255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77B10E34-6FC6-D4F6-7B63-FFB166CC6055}"/>
              </a:ext>
            </a:extLst>
          </p:cNvPr>
          <p:cNvSpPr txBox="1">
            <a:spLocks/>
          </p:cNvSpPr>
          <p:nvPr/>
        </p:nvSpPr>
        <p:spPr>
          <a:xfrm>
            <a:off x="2055875" y="6608708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itchFamily="18" charset="0"/>
              </a:rPr>
              <a:t>Smart Waste Management System (SWMS)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9F39C7-F09E-AF46-522E-2BAFDDEE1B55}"/>
              </a:ext>
            </a:extLst>
          </p:cNvPr>
          <p:cNvSpPr txBox="1"/>
          <p:nvPr/>
        </p:nvSpPr>
        <p:spPr>
          <a:xfrm>
            <a:off x="4193925" y="6149119"/>
            <a:ext cx="34201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4.3 Activity Diagram: Detection Verification.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7322C-7839-2320-9777-537A95EB42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0262" y="694457"/>
            <a:ext cx="4951475" cy="5389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1895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C1900-1A81-DF2B-35DA-32B9A8B1A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8178E-35E3-71AD-3AB1-B845E67C8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171857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                     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462EC0F6-05B7-5CB4-D7AC-B3B2FDD02398}"/>
              </a:ext>
            </a:extLst>
          </p:cNvPr>
          <p:cNvSpPr txBox="1">
            <a:spLocks/>
          </p:cNvSpPr>
          <p:nvPr/>
        </p:nvSpPr>
        <p:spPr>
          <a:xfrm>
            <a:off x="8534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B6F15528-21DE-4FAA-801E-634DDDAF4B2B}" type="slidenum">
              <a:rPr lang="en-US" sz="1200">
                <a:latin typeface="Rockwell" pitchFamily="18" charset="0"/>
              </a:rPr>
              <a:pPr algn="r">
                <a:defRPr/>
              </a:pPr>
              <a:t>27</a:t>
            </a:fld>
            <a:endParaRPr lang="en-US" sz="1200" dirty="0">
              <a:latin typeface="Rockwell" pitchFamily="18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19971B37-BB04-BF9C-62D5-2F39BDAB5F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148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A9EBF20-A392-6F6F-502B-5AD836EF7E27}"/>
              </a:ext>
            </a:extLst>
          </p:cNvPr>
          <p:cNvSpPr txBox="1">
            <a:spLocks/>
          </p:cNvSpPr>
          <p:nvPr/>
        </p:nvSpPr>
        <p:spPr>
          <a:xfrm>
            <a:off x="1880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Activity Diagram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9E1BD32A-4D1E-EA2E-F118-9FBA470B6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0459" y="12255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DBC6AB23-02EA-C4EA-B0BF-2FAE31774580}"/>
              </a:ext>
            </a:extLst>
          </p:cNvPr>
          <p:cNvSpPr txBox="1">
            <a:spLocks/>
          </p:cNvSpPr>
          <p:nvPr/>
        </p:nvSpPr>
        <p:spPr>
          <a:xfrm>
            <a:off x="2055875" y="6608708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itchFamily="18" charset="0"/>
              </a:rPr>
              <a:t>Smart Waste Management System (SWMS)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57B4A9-4F21-824A-946D-E428F6A5A13A}"/>
              </a:ext>
            </a:extLst>
          </p:cNvPr>
          <p:cNvSpPr txBox="1"/>
          <p:nvPr/>
        </p:nvSpPr>
        <p:spPr>
          <a:xfrm>
            <a:off x="4497068" y="6145549"/>
            <a:ext cx="3197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4.4 Activity Diagram: Report Generation.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D6934D-EA6B-E2CA-2E7D-451732F906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62" y="898611"/>
            <a:ext cx="4943475" cy="5060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2593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0B2F3-3CED-18F8-FCD7-1D553AE3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857500"/>
            <a:ext cx="109728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Class Diagram</a:t>
            </a:r>
            <a:b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4915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70360-1D07-3802-E64B-18716B76F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5D238-D661-9677-2944-BBB332483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171857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                     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9F045E65-115E-2E65-77C5-A541946E0E23}"/>
              </a:ext>
            </a:extLst>
          </p:cNvPr>
          <p:cNvSpPr txBox="1">
            <a:spLocks/>
          </p:cNvSpPr>
          <p:nvPr/>
        </p:nvSpPr>
        <p:spPr>
          <a:xfrm>
            <a:off x="8534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B6F15528-21DE-4FAA-801E-634DDDAF4B2B}" type="slidenum">
              <a:rPr lang="en-US" sz="1200">
                <a:latin typeface="Rockwell" pitchFamily="18" charset="0"/>
              </a:rPr>
              <a:pPr algn="r">
                <a:defRPr/>
              </a:pPr>
              <a:t>29</a:t>
            </a:fld>
            <a:endParaRPr lang="en-US" sz="1200" dirty="0">
              <a:latin typeface="Rockwell" pitchFamily="18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4AAD5C2-2942-FE08-8C1A-40F828109F14}"/>
              </a:ext>
            </a:extLst>
          </p:cNvPr>
          <p:cNvSpPr txBox="1">
            <a:spLocks/>
          </p:cNvSpPr>
          <p:nvPr/>
        </p:nvSpPr>
        <p:spPr>
          <a:xfrm>
            <a:off x="1880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62222A61-1611-D029-1B05-D9259792A5FE}"/>
              </a:ext>
            </a:extLst>
          </p:cNvPr>
          <p:cNvSpPr txBox="1">
            <a:spLocks/>
          </p:cNvSpPr>
          <p:nvPr/>
        </p:nvSpPr>
        <p:spPr>
          <a:xfrm>
            <a:off x="2055875" y="6608708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itchFamily="18" charset="0"/>
              </a:rPr>
              <a:t>Smart Waste Management System (SWMS)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D97A8E-12D0-E375-2C7A-B4613BCADE06}"/>
              </a:ext>
            </a:extLst>
          </p:cNvPr>
          <p:cNvSpPr txBox="1"/>
          <p:nvPr/>
        </p:nvSpPr>
        <p:spPr>
          <a:xfrm>
            <a:off x="5250256" y="6145549"/>
            <a:ext cx="1691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5 Class Diagram.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6D9912-32A6-0B2C-8CD1-8AEF09C7E0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71800" y="192494"/>
            <a:ext cx="6529187" cy="5584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0418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0AD59-F6B5-72B1-2094-2F7D95972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AF7D0-F83C-97FB-414D-D2F08180C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171857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                     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9D687846-FAAB-0836-9251-6BBF40CE2F61}"/>
              </a:ext>
            </a:extLst>
          </p:cNvPr>
          <p:cNvSpPr txBox="1">
            <a:spLocks/>
          </p:cNvSpPr>
          <p:nvPr/>
        </p:nvSpPr>
        <p:spPr>
          <a:xfrm>
            <a:off x="8534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B6F15528-21DE-4FAA-801E-634DDDAF4B2B}" type="slidenum">
              <a:rPr lang="en-US" sz="1200">
                <a:latin typeface="Rockwell" pitchFamily="18" charset="0"/>
              </a:rPr>
              <a:pPr algn="r">
                <a:defRPr/>
              </a:pPr>
              <a:t>30</a:t>
            </a:fld>
            <a:endParaRPr lang="en-US" sz="1200" dirty="0">
              <a:latin typeface="Rockwell" pitchFamily="18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C5D0B98D-3D49-9314-5AD6-ACA202F3D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148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53C5790F-64DB-29DF-3E53-0D2B3644B43F}"/>
              </a:ext>
            </a:extLst>
          </p:cNvPr>
          <p:cNvSpPr txBox="1">
            <a:spLocks/>
          </p:cNvSpPr>
          <p:nvPr/>
        </p:nvSpPr>
        <p:spPr>
          <a:xfrm>
            <a:off x="1880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Data Flow Diagram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ACAE96B2-107F-FC13-6680-F7C5F0DE15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0459" y="12255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45107E22-3429-A654-6EE1-A4C2E4F457AC}"/>
              </a:ext>
            </a:extLst>
          </p:cNvPr>
          <p:cNvSpPr txBox="1">
            <a:spLocks/>
          </p:cNvSpPr>
          <p:nvPr/>
        </p:nvSpPr>
        <p:spPr>
          <a:xfrm>
            <a:off x="2055875" y="6608708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itchFamily="18" charset="0"/>
              </a:rPr>
              <a:t>Smart Waste Management System (SWMS)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AFAD74-8FB7-C544-01FA-C13BF7BC3BD6}"/>
              </a:ext>
            </a:extLst>
          </p:cNvPr>
          <p:cNvSpPr txBox="1"/>
          <p:nvPr/>
        </p:nvSpPr>
        <p:spPr>
          <a:xfrm>
            <a:off x="5414563" y="4724400"/>
            <a:ext cx="13628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6.1 Level 0.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62BA51-D0E5-4C58-2F2A-05D3E6F0A8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828" y="2209800"/>
            <a:ext cx="8960294" cy="2100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6946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2F058-7939-1505-F489-FB033D115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EE31C-E203-7C8E-0928-8E68A34F3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171857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                     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97777EAF-89C4-09E5-F871-16DBF5FB70B3}"/>
              </a:ext>
            </a:extLst>
          </p:cNvPr>
          <p:cNvSpPr txBox="1">
            <a:spLocks/>
          </p:cNvSpPr>
          <p:nvPr/>
        </p:nvSpPr>
        <p:spPr>
          <a:xfrm>
            <a:off x="8534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B6F15528-21DE-4FAA-801E-634DDDAF4B2B}" type="slidenum">
              <a:rPr lang="en-US" sz="1200">
                <a:latin typeface="Rockwell" pitchFamily="18" charset="0"/>
              </a:rPr>
              <a:pPr algn="r">
                <a:defRPr/>
              </a:pPr>
              <a:t>31</a:t>
            </a:fld>
            <a:endParaRPr lang="en-US" sz="1200" dirty="0">
              <a:latin typeface="Rockwell" pitchFamily="18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2B38B469-E61E-A853-970D-D0D0D91D98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148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B33A57CF-AE44-A1E1-B3F2-A7D932173364}"/>
              </a:ext>
            </a:extLst>
          </p:cNvPr>
          <p:cNvSpPr txBox="1">
            <a:spLocks/>
          </p:cNvSpPr>
          <p:nvPr/>
        </p:nvSpPr>
        <p:spPr>
          <a:xfrm>
            <a:off x="1880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Data Flow Diagram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D24D25C5-0285-348E-C190-48080A5DE8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0459" y="12255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605BFCAC-3EAF-0BEA-3BBA-158D2FC22965}"/>
              </a:ext>
            </a:extLst>
          </p:cNvPr>
          <p:cNvSpPr txBox="1">
            <a:spLocks/>
          </p:cNvSpPr>
          <p:nvPr/>
        </p:nvSpPr>
        <p:spPr>
          <a:xfrm>
            <a:off x="2055875" y="6608708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itchFamily="18" charset="0"/>
              </a:rPr>
              <a:t>Smart Waste Management System (SWMS)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AF5F0C-FCB8-375E-2EC9-551060E8F6B4}"/>
              </a:ext>
            </a:extLst>
          </p:cNvPr>
          <p:cNvSpPr txBox="1"/>
          <p:nvPr/>
        </p:nvSpPr>
        <p:spPr>
          <a:xfrm>
            <a:off x="5242241" y="6129543"/>
            <a:ext cx="17075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6.2 DFD Level 1.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8FFAAC-7246-946A-5B83-1D1E0888F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050" y="775946"/>
            <a:ext cx="6419850" cy="520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2430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5323B-050C-3720-7608-522E60D0C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A8491-7DC5-9250-2B26-2992BF4C0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171857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                     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89783595-BF80-F907-FB5D-F7967BE93DA4}"/>
              </a:ext>
            </a:extLst>
          </p:cNvPr>
          <p:cNvSpPr txBox="1">
            <a:spLocks/>
          </p:cNvSpPr>
          <p:nvPr/>
        </p:nvSpPr>
        <p:spPr>
          <a:xfrm>
            <a:off x="8534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B6F15528-21DE-4FAA-801E-634DDDAF4B2B}" type="slidenum">
              <a:rPr lang="en-US" sz="1200">
                <a:latin typeface="Rockwell" pitchFamily="18" charset="0"/>
              </a:rPr>
              <a:pPr algn="r">
                <a:defRPr/>
              </a:pPr>
              <a:t>32</a:t>
            </a:fld>
            <a:endParaRPr lang="en-US" sz="1200" dirty="0">
              <a:latin typeface="Rockwell" pitchFamily="18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A4C456A6-09FB-7114-6E0A-4FE82EC65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148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6560A968-4D89-84DB-B4D7-67F780994944}"/>
              </a:ext>
            </a:extLst>
          </p:cNvPr>
          <p:cNvSpPr txBox="1">
            <a:spLocks/>
          </p:cNvSpPr>
          <p:nvPr/>
        </p:nvSpPr>
        <p:spPr>
          <a:xfrm>
            <a:off x="1880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Data Flow Diagram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63FA903D-EC54-1997-A296-2D2D5DEB3B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0459" y="12255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9D6E2E9E-19AE-C2EE-E417-CAC32E031745}"/>
              </a:ext>
            </a:extLst>
          </p:cNvPr>
          <p:cNvSpPr txBox="1">
            <a:spLocks/>
          </p:cNvSpPr>
          <p:nvPr/>
        </p:nvSpPr>
        <p:spPr>
          <a:xfrm>
            <a:off x="2055875" y="6608708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itchFamily="18" charset="0"/>
              </a:rPr>
              <a:t>Smart Waste Management System (SWMS)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CB4F5C-055F-5D1D-98D4-E21B7647C747}"/>
              </a:ext>
            </a:extLst>
          </p:cNvPr>
          <p:cNvSpPr txBox="1"/>
          <p:nvPr/>
        </p:nvSpPr>
        <p:spPr>
          <a:xfrm>
            <a:off x="5184533" y="6129543"/>
            <a:ext cx="18229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6.3 DFD Level 2.1.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670A99-B422-44B9-AEC7-965C3DC779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271587"/>
            <a:ext cx="8686800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1694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137FF-7DBD-C96F-AE6B-785A2B308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320A7-EF57-FE3E-D17D-EAED3AB0D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171857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                     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616A8A5-1C60-BAEB-DEAB-08B6B66F5F6C}"/>
              </a:ext>
            </a:extLst>
          </p:cNvPr>
          <p:cNvSpPr txBox="1">
            <a:spLocks/>
          </p:cNvSpPr>
          <p:nvPr/>
        </p:nvSpPr>
        <p:spPr>
          <a:xfrm>
            <a:off x="8534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B6F15528-21DE-4FAA-801E-634DDDAF4B2B}" type="slidenum">
              <a:rPr lang="en-US" sz="1200">
                <a:latin typeface="Rockwell" pitchFamily="18" charset="0"/>
              </a:rPr>
              <a:pPr algn="r">
                <a:defRPr/>
              </a:pPr>
              <a:t>33</a:t>
            </a:fld>
            <a:endParaRPr lang="en-US" sz="1200" dirty="0">
              <a:latin typeface="Rockwell" pitchFamily="18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66370389-4CF5-E276-DDBA-8DFF6D7F3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148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68078013-88E9-FDEF-9716-43A82E271D4B}"/>
              </a:ext>
            </a:extLst>
          </p:cNvPr>
          <p:cNvSpPr txBox="1">
            <a:spLocks/>
          </p:cNvSpPr>
          <p:nvPr/>
        </p:nvSpPr>
        <p:spPr>
          <a:xfrm>
            <a:off x="1880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Data Flow Diagram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5DC324D5-7CEB-AA75-BCCA-1FCB7D2262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0459" y="12255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00EE1174-B817-A826-6717-2A7F065DFB03}"/>
              </a:ext>
            </a:extLst>
          </p:cNvPr>
          <p:cNvSpPr txBox="1">
            <a:spLocks/>
          </p:cNvSpPr>
          <p:nvPr/>
        </p:nvSpPr>
        <p:spPr>
          <a:xfrm>
            <a:off x="2055875" y="6608708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itchFamily="18" charset="0"/>
              </a:rPr>
              <a:t>Smart Waste Management System (SWMS)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00BA3E-01F3-DB0E-6E9B-15D411174E8E}"/>
              </a:ext>
            </a:extLst>
          </p:cNvPr>
          <p:cNvSpPr txBox="1"/>
          <p:nvPr/>
        </p:nvSpPr>
        <p:spPr>
          <a:xfrm>
            <a:off x="5184533" y="6129543"/>
            <a:ext cx="18229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6.4 DFD Level 2.2.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89826F-40CB-6BAE-8550-A7E4ED17D4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087" y="1038225"/>
            <a:ext cx="10029825" cy="478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406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BBC91-BC90-4924-DA76-3832AA8B7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BD033-4BE4-5A7C-A25E-EBEB668D3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171857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                     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FF91D8EF-A3F3-E807-C13E-BA13565AE689}"/>
              </a:ext>
            </a:extLst>
          </p:cNvPr>
          <p:cNvSpPr txBox="1">
            <a:spLocks/>
          </p:cNvSpPr>
          <p:nvPr/>
        </p:nvSpPr>
        <p:spPr>
          <a:xfrm>
            <a:off x="8534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B6F15528-21DE-4FAA-801E-634DDDAF4B2B}" type="slidenum">
              <a:rPr lang="en-US" sz="1200">
                <a:latin typeface="Rockwell" pitchFamily="18" charset="0"/>
              </a:rPr>
              <a:pPr algn="r">
                <a:defRPr/>
              </a:pPr>
              <a:t>34</a:t>
            </a:fld>
            <a:endParaRPr lang="en-US" sz="1200" dirty="0">
              <a:latin typeface="Rockwell" pitchFamily="18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8A44A042-DE66-FA0E-2C79-39826C1C9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148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86F1FB27-C17E-22F1-5467-98E92837C5B8}"/>
              </a:ext>
            </a:extLst>
          </p:cNvPr>
          <p:cNvSpPr txBox="1">
            <a:spLocks/>
          </p:cNvSpPr>
          <p:nvPr/>
        </p:nvSpPr>
        <p:spPr>
          <a:xfrm>
            <a:off x="1880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Entity Relationship Diagram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D0BE4375-7FD7-29C1-EF32-745D751B0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0459" y="12255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BB70B3EC-EFDA-AE06-0E32-3A9C41503069}"/>
              </a:ext>
            </a:extLst>
          </p:cNvPr>
          <p:cNvSpPr txBox="1">
            <a:spLocks/>
          </p:cNvSpPr>
          <p:nvPr/>
        </p:nvSpPr>
        <p:spPr>
          <a:xfrm>
            <a:off x="2055875" y="6608708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itchFamily="18" charset="0"/>
              </a:rPr>
              <a:t>Smart Waste Management System (SWMS)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E6D781-42A8-741F-2C2F-3A60E80AF946}"/>
              </a:ext>
            </a:extLst>
          </p:cNvPr>
          <p:cNvSpPr txBox="1"/>
          <p:nvPr/>
        </p:nvSpPr>
        <p:spPr>
          <a:xfrm>
            <a:off x="5552423" y="6129543"/>
            <a:ext cx="10871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7 ERD.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656E8F-8411-8618-F5BA-B90E0BF6B7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132749"/>
            <a:ext cx="8001000" cy="4432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6770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1E09B-1AB8-8DBC-9608-AACB1D697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6A99A-1560-9D5D-15AB-A56DF0543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171857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                     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2AC64276-26A8-7681-B916-2FBEBE719BA4}"/>
              </a:ext>
            </a:extLst>
          </p:cNvPr>
          <p:cNvSpPr txBox="1">
            <a:spLocks/>
          </p:cNvSpPr>
          <p:nvPr/>
        </p:nvSpPr>
        <p:spPr>
          <a:xfrm>
            <a:off x="8534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B6F15528-21DE-4FAA-801E-634DDDAF4B2B}" type="slidenum">
              <a:rPr lang="en-US" sz="1200">
                <a:latin typeface="Rockwell" pitchFamily="18" charset="0"/>
              </a:rPr>
              <a:pPr algn="r">
                <a:defRPr/>
              </a:pPr>
              <a:t>35</a:t>
            </a:fld>
            <a:endParaRPr lang="en-US" sz="1200" dirty="0">
              <a:latin typeface="Rockwell" pitchFamily="18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359FE7BC-EA6B-C87B-1CCF-E7B2F7A0D2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148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63F6674D-3847-3CB2-E3AE-BCC038F3E174}"/>
              </a:ext>
            </a:extLst>
          </p:cNvPr>
          <p:cNvSpPr txBox="1">
            <a:spLocks/>
          </p:cNvSpPr>
          <p:nvPr/>
        </p:nvSpPr>
        <p:spPr>
          <a:xfrm>
            <a:off x="2072640" y="3200400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Risk Management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91B92283-4473-4383-D026-E1D63A864E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0459" y="12255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EC92339F-7E59-336A-DA0F-09C3EDA0E50B}"/>
              </a:ext>
            </a:extLst>
          </p:cNvPr>
          <p:cNvSpPr txBox="1">
            <a:spLocks/>
          </p:cNvSpPr>
          <p:nvPr/>
        </p:nvSpPr>
        <p:spPr>
          <a:xfrm>
            <a:off x="2055875" y="6608708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itchFamily="18" charset="0"/>
              </a:rPr>
              <a:t>Smart Waste Management System (SWMS)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31153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7079D-C055-3C7C-105D-62B4FBAE3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0A4EB-509D-1ED9-D1BE-547E7DF2F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171857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                     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E63DF571-E4D6-A39D-A761-E2EFDE4B7962}"/>
              </a:ext>
            </a:extLst>
          </p:cNvPr>
          <p:cNvSpPr txBox="1">
            <a:spLocks/>
          </p:cNvSpPr>
          <p:nvPr/>
        </p:nvSpPr>
        <p:spPr>
          <a:xfrm>
            <a:off x="8534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B6F15528-21DE-4FAA-801E-634DDDAF4B2B}" type="slidenum">
              <a:rPr lang="en-US" sz="1200">
                <a:latin typeface="Rockwell" pitchFamily="18" charset="0"/>
              </a:rPr>
              <a:pPr algn="r">
                <a:defRPr/>
              </a:pPr>
              <a:t>36</a:t>
            </a:fld>
            <a:endParaRPr lang="en-US" sz="1200" dirty="0">
              <a:latin typeface="Rockwell" pitchFamily="18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476E218F-2513-BF85-632F-AB92B93B97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148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17C8781-2014-69A2-F719-6B1B797CD7D2}"/>
              </a:ext>
            </a:extLst>
          </p:cNvPr>
          <p:cNvSpPr txBox="1">
            <a:spLocks/>
          </p:cNvSpPr>
          <p:nvPr/>
        </p:nvSpPr>
        <p:spPr>
          <a:xfrm>
            <a:off x="1880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Risk Identification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81AD4FB6-B650-1B3F-656E-559729ED6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0459" y="12255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6EB65475-F009-8253-5E0A-A7540C60245F}"/>
              </a:ext>
            </a:extLst>
          </p:cNvPr>
          <p:cNvSpPr txBox="1">
            <a:spLocks/>
          </p:cNvSpPr>
          <p:nvPr/>
        </p:nvSpPr>
        <p:spPr>
          <a:xfrm>
            <a:off x="2055875" y="6608708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itchFamily="18" charset="0"/>
              </a:rPr>
              <a:t>Smart Waste Management System (SWMS)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701825-5BF5-575B-751E-8C19F695B1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8048" y="1328444"/>
            <a:ext cx="6115904" cy="420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0228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F5E62-548A-A856-1301-A2704BCF7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2FC9A-4849-B699-CC04-B02CF1782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171857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                     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0D074645-3979-E019-D468-838799A8B286}"/>
              </a:ext>
            </a:extLst>
          </p:cNvPr>
          <p:cNvSpPr txBox="1">
            <a:spLocks/>
          </p:cNvSpPr>
          <p:nvPr/>
        </p:nvSpPr>
        <p:spPr>
          <a:xfrm>
            <a:off x="8534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B6F15528-21DE-4FAA-801E-634DDDAF4B2B}" type="slidenum">
              <a:rPr lang="en-US" sz="1200">
                <a:latin typeface="Rockwell" pitchFamily="18" charset="0"/>
              </a:rPr>
              <a:pPr algn="r">
                <a:defRPr/>
              </a:pPr>
              <a:t>37</a:t>
            </a:fld>
            <a:endParaRPr lang="en-US" sz="1200" dirty="0">
              <a:latin typeface="Rockwell" pitchFamily="18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EC15F100-D564-8574-CB4E-C7639704D7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148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5E1B9D7-2DC8-B0CD-1024-3C3C919BADE9}"/>
              </a:ext>
            </a:extLst>
          </p:cNvPr>
          <p:cNvSpPr txBox="1">
            <a:spLocks/>
          </p:cNvSpPr>
          <p:nvPr/>
        </p:nvSpPr>
        <p:spPr>
          <a:xfrm>
            <a:off x="1880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Risk Analysis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B9A0E68F-2A1A-0619-9D08-A27B961265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0459" y="12255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B0F8B991-7FA5-2F4D-3611-94E229956108}"/>
              </a:ext>
            </a:extLst>
          </p:cNvPr>
          <p:cNvSpPr txBox="1">
            <a:spLocks/>
          </p:cNvSpPr>
          <p:nvPr/>
        </p:nvSpPr>
        <p:spPr>
          <a:xfrm>
            <a:off x="2055875" y="6608708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itchFamily="18" charset="0"/>
              </a:rPr>
              <a:t>Smart Waste Management System (SWMS)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22DF1D-EB17-3852-7F2C-DEAE9D021E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3364" y="1647576"/>
            <a:ext cx="5525271" cy="356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8343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534B9-DF0A-6175-3AF5-BD7D52D71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75076-8C28-A2C6-5360-14D056BDB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171857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                     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BEB7CD9D-77FB-9617-D016-EC3AEA7C8CE6}"/>
              </a:ext>
            </a:extLst>
          </p:cNvPr>
          <p:cNvSpPr txBox="1">
            <a:spLocks/>
          </p:cNvSpPr>
          <p:nvPr/>
        </p:nvSpPr>
        <p:spPr>
          <a:xfrm>
            <a:off x="8534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B6F15528-21DE-4FAA-801E-634DDDAF4B2B}" type="slidenum">
              <a:rPr lang="en-US" sz="1200">
                <a:latin typeface="Rockwell" pitchFamily="18" charset="0"/>
              </a:rPr>
              <a:pPr algn="r">
                <a:defRPr/>
              </a:pPr>
              <a:t>38</a:t>
            </a:fld>
            <a:endParaRPr lang="en-US" sz="1200" dirty="0">
              <a:latin typeface="Rockwell" pitchFamily="18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B3E932FB-0326-3DBF-C79F-16442D92A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148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B5B1E95-6DD9-433D-0FE1-7A02FBFAC123}"/>
              </a:ext>
            </a:extLst>
          </p:cNvPr>
          <p:cNvSpPr txBox="1">
            <a:spLocks/>
          </p:cNvSpPr>
          <p:nvPr/>
        </p:nvSpPr>
        <p:spPr>
          <a:xfrm>
            <a:off x="1880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Risk Planning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D324F008-3B36-9068-B5AA-FBF8406C05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0459" y="12255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B62EC05B-1D9F-905D-D109-2EE4446C0E8F}"/>
              </a:ext>
            </a:extLst>
          </p:cNvPr>
          <p:cNvSpPr txBox="1">
            <a:spLocks/>
          </p:cNvSpPr>
          <p:nvPr/>
        </p:nvSpPr>
        <p:spPr>
          <a:xfrm>
            <a:off x="2055875" y="6608708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itchFamily="18" charset="0"/>
              </a:rPr>
              <a:t>Smart Waste Management System (SWMS)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386BC14-0E55-677A-FDD1-8AE0E025C4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1954716"/>
              </p:ext>
            </p:extLst>
          </p:nvPr>
        </p:nvGraphicFramePr>
        <p:xfrm>
          <a:off x="2648744" y="1371600"/>
          <a:ext cx="6894512" cy="425450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36592">
                  <a:extLst>
                    <a:ext uri="{9D8B030D-6E8A-4147-A177-3AD203B41FA5}">
                      <a16:colId xmlns:a16="http://schemas.microsoft.com/office/drawing/2014/main" val="481920213"/>
                    </a:ext>
                  </a:extLst>
                </a:gridCol>
                <a:gridCol w="2089819">
                  <a:extLst>
                    <a:ext uri="{9D8B030D-6E8A-4147-A177-3AD203B41FA5}">
                      <a16:colId xmlns:a16="http://schemas.microsoft.com/office/drawing/2014/main" val="2723213417"/>
                    </a:ext>
                  </a:extLst>
                </a:gridCol>
                <a:gridCol w="875367">
                  <a:extLst>
                    <a:ext uri="{9D8B030D-6E8A-4147-A177-3AD203B41FA5}">
                      <a16:colId xmlns:a16="http://schemas.microsoft.com/office/drawing/2014/main" val="51175380"/>
                    </a:ext>
                  </a:extLst>
                </a:gridCol>
                <a:gridCol w="3492734">
                  <a:extLst>
                    <a:ext uri="{9D8B030D-6E8A-4147-A177-3AD203B41FA5}">
                      <a16:colId xmlns:a16="http://schemas.microsoft.com/office/drawing/2014/main" val="3592856376"/>
                    </a:ext>
                  </a:extLst>
                </a:gridCol>
              </a:tblGrid>
              <a:tr h="24143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 Name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Strategy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Headline Action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23945306"/>
                  </a:ext>
                </a:extLst>
              </a:tr>
              <a:tr h="49954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R1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Schedule slip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Mitigate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Hold the phase boundaries and trim scope inside a phase rather than extend its duration.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91232333"/>
                  </a:ext>
                </a:extLst>
              </a:tr>
              <a:tr h="75766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R2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integration mismatch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Mitigate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Freeze the detection engine interface in code and write unit tests that exercise it with sample inputs.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4206493"/>
                  </a:ext>
                </a:extLst>
              </a:tr>
              <a:tr h="49954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R3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loss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Mitigate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 an in-app backup action and document a daily backup routine.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71398524"/>
                  </a:ext>
                </a:extLst>
              </a:tr>
              <a:tr h="75766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R4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Credential exposure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Avoid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bcrypt for passwords and store SMTP secrets in app_settings only; never write them to the activity log.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65273618"/>
                  </a:ext>
                </a:extLst>
              </a:tr>
              <a:tr h="49954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R5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degradation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Mitigate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Apply database indexes and paginate the history table at 25 rows per page.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83549442"/>
                  </a:ext>
                </a:extLst>
              </a:tr>
              <a:tr h="49954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R6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Usability rejection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Mitigate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 an early demo with two operators and incorporate feedback before the polish phase.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9485166"/>
                  </a:ext>
                </a:extLst>
              </a:tr>
              <a:tr h="49954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R7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SMTP outage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Mitigate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Retry once with a five-second pause and surface a toast notification when delivery fails.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24857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09470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6B9B3-DB5F-534B-643D-656AF741D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6841E-4B0A-719D-0CCC-6B32F8AB8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171857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                     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6FD454A-F146-D0E6-0248-B4C7BAC644E4}"/>
              </a:ext>
            </a:extLst>
          </p:cNvPr>
          <p:cNvSpPr txBox="1">
            <a:spLocks/>
          </p:cNvSpPr>
          <p:nvPr/>
        </p:nvSpPr>
        <p:spPr>
          <a:xfrm>
            <a:off x="8534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B6F15528-21DE-4FAA-801E-634DDDAF4B2B}" type="slidenum">
              <a:rPr lang="en-US" sz="1200">
                <a:latin typeface="Rockwell" pitchFamily="18" charset="0"/>
              </a:rPr>
              <a:pPr algn="r">
                <a:defRPr/>
              </a:pPr>
              <a:t>39</a:t>
            </a:fld>
            <a:endParaRPr lang="en-US" sz="1200" dirty="0">
              <a:latin typeface="Rockwell" pitchFamily="18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9AA80BBB-9404-5DD0-C7F0-C6E247A5FE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148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4110A7C3-00DC-3079-3BBA-599E6745615E}"/>
              </a:ext>
            </a:extLst>
          </p:cNvPr>
          <p:cNvSpPr txBox="1">
            <a:spLocks/>
          </p:cNvSpPr>
          <p:nvPr/>
        </p:nvSpPr>
        <p:spPr>
          <a:xfrm>
            <a:off x="2072640" y="3200400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System Interfaces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5B978FEE-5108-87A8-1197-28D348B8A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0459" y="12255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55667307-CBDD-7C59-6F4C-E94C5C437CF3}"/>
              </a:ext>
            </a:extLst>
          </p:cNvPr>
          <p:cNvSpPr txBox="1">
            <a:spLocks/>
          </p:cNvSpPr>
          <p:nvPr/>
        </p:nvSpPr>
        <p:spPr>
          <a:xfrm>
            <a:off x="2055875" y="6608708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itchFamily="18" charset="0"/>
              </a:rPr>
              <a:t>Smart Waste Management System (SWMS)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05907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A48C1-E25A-4053-272A-E4677BD30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3FEAF-16FD-6526-58DF-CA2A5AD96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171857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                     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551F989D-0288-B161-9BC9-B52DF7C57BF7}"/>
              </a:ext>
            </a:extLst>
          </p:cNvPr>
          <p:cNvSpPr txBox="1">
            <a:spLocks/>
          </p:cNvSpPr>
          <p:nvPr/>
        </p:nvSpPr>
        <p:spPr>
          <a:xfrm>
            <a:off x="8534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B6F15528-21DE-4FAA-801E-634DDDAF4B2B}" type="slidenum">
              <a:rPr lang="en-US" sz="1200">
                <a:latin typeface="Rockwell" pitchFamily="18" charset="0"/>
              </a:rPr>
              <a:pPr algn="r">
                <a:defRPr/>
              </a:pPr>
              <a:t>40</a:t>
            </a:fld>
            <a:endParaRPr lang="en-US" sz="1200" dirty="0">
              <a:latin typeface="Rockwell" pitchFamily="18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1B46AA02-A9BF-C621-F393-F7CD5F1EFD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148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670D0942-9898-C44E-F980-E2A3E7AC9A9A}"/>
              </a:ext>
            </a:extLst>
          </p:cNvPr>
          <p:cNvSpPr txBox="1">
            <a:spLocks/>
          </p:cNvSpPr>
          <p:nvPr/>
        </p:nvSpPr>
        <p:spPr>
          <a:xfrm>
            <a:off x="1880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Login Screen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82728A80-2AC9-31C4-9021-2F0D76D42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0459" y="12255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68ADFE92-6A4E-DF06-5F32-C417A92A9438}"/>
              </a:ext>
            </a:extLst>
          </p:cNvPr>
          <p:cNvSpPr txBox="1">
            <a:spLocks/>
          </p:cNvSpPr>
          <p:nvPr/>
        </p:nvSpPr>
        <p:spPr>
          <a:xfrm>
            <a:off x="2055875" y="6608708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itchFamily="18" charset="0"/>
              </a:rPr>
              <a:t>Smart Waste Management System (SWMS)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565DB6-CF79-A3BA-EFBF-979B1B3BFC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5" y="1363444"/>
            <a:ext cx="9220200" cy="443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3111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4C057-3FC3-F4EB-4CC3-585B37598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12CFD-90F6-A485-21AF-54CC8D2AF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171857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                     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BFE048EF-20BF-9D6C-1736-8420D9881787}"/>
              </a:ext>
            </a:extLst>
          </p:cNvPr>
          <p:cNvSpPr txBox="1">
            <a:spLocks/>
          </p:cNvSpPr>
          <p:nvPr/>
        </p:nvSpPr>
        <p:spPr>
          <a:xfrm>
            <a:off x="8534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B6F15528-21DE-4FAA-801E-634DDDAF4B2B}" type="slidenum">
              <a:rPr lang="en-US" sz="1200">
                <a:latin typeface="Rockwell" pitchFamily="18" charset="0"/>
              </a:rPr>
              <a:pPr algn="r">
                <a:defRPr/>
              </a:pPr>
              <a:t>41</a:t>
            </a:fld>
            <a:endParaRPr lang="en-US" sz="1200" dirty="0">
              <a:latin typeface="Rockwell" pitchFamily="18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7FB5DC75-CD0A-BD1A-9874-4A822C657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148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4AD401CD-BAA4-336E-A728-09721CE7132D}"/>
              </a:ext>
            </a:extLst>
          </p:cNvPr>
          <p:cNvSpPr txBox="1">
            <a:spLocks/>
          </p:cNvSpPr>
          <p:nvPr/>
        </p:nvSpPr>
        <p:spPr>
          <a:xfrm>
            <a:off x="1880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Admin Dashboard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F9EE5FFC-A0A3-9F20-12FE-DF331EB42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0459" y="12255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28C7F327-34D8-F620-4C1F-1E9998BF3E21}"/>
              </a:ext>
            </a:extLst>
          </p:cNvPr>
          <p:cNvSpPr txBox="1">
            <a:spLocks/>
          </p:cNvSpPr>
          <p:nvPr/>
        </p:nvSpPr>
        <p:spPr>
          <a:xfrm>
            <a:off x="2055875" y="6608708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itchFamily="18" charset="0"/>
              </a:rPr>
              <a:t>Smart Waste Management System (SWMS)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01FC49-05CF-ADED-24DB-5B83FC8638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308" y="1009700"/>
            <a:ext cx="10311384" cy="5252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3088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10F91-7215-0923-00F4-01CB10EBA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373C2-5331-42E3-A429-2058F69AE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171857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                     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957BC7C0-3E4F-B8E9-2ECB-063EEF647C65}"/>
              </a:ext>
            </a:extLst>
          </p:cNvPr>
          <p:cNvSpPr txBox="1">
            <a:spLocks/>
          </p:cNvSpPr>
          <p:nvPr/>
        </p:nvSpPr>
        <p:spPr>
          <a:xfrm>
            <a:off x="8534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B6F15528-21DE-4FAA-801E-634DDDAF4B2B}" type="slidenum">
              <a:rPr lang="en-US" sz="1200">
                <a:latin typeface="Rockwell" pitchFamily="18" charset="0"/>
              </a:rPr>
              <a:pPr algn="r">
                <a:defRPr/>
              </a:pPr>
              <a:t>42</a:t>
            </a:fld>
            <a:endParaRPr lang="en-US" sz="1200" dirty="0">
              <a:latin typeface="Rockwell" pitchFamily="18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A1B03F89-F17C-D045-C9E7-5EE3E367B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148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31D7A52A-6BE0-E18B-F377-078B9BB86D11}"/>
              </a:ext>
            </a:extLst>
          </p:cNvPr>
          <p:cNvSpPr txBox="1">
            <a:spLocks/>
          </p:cNvSpPr>
          <p:nvPr/>
        </p:nvSpPr>
        <p:spPr>
          <a:xfrm>
            <a:off x="1880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Detection Screen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7145DC72-C45E-43E0-9FB5-9FD0EBA5BA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0459" y="12255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3070D704-1CD2-A866-F015-2D4E9E6E348D}"/>
              </a:ext>
            </a:extLst>
          </p:cNvPr>
          <p:cNvSpPr txBox="1">
            <a:spLocks/>
          </p:cNvSpPr>
          <p:nvPr/>
        </p:nvSpPr>
        <p:spPr>
          <a:xfrm>
            <a:off x="2055875" y="6608708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itchFamily="18" charset="0"/>
              </a:rPr>
              <a:t>Smart Waste Management System (SWMS)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2530A7-B123-320F-7655-7D78A3B670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1243296"/>
            <a:ext cx="9296400" cy="4771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5036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60B02-8E50-3F3C-DF8A-2E26F964D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A3CB0-51C2-CC72-D324-6B668C60C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171857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                     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1A1A025-49C6-0A68-5528-BBDCFED7F1E6}"/>
              </a:ext>
            </a:extLst>
          </p:cNvPr>
          <p:cNvSpPr txBox="1">
            <a:spLocks/>
          </p:cNvSpPr>
          <p:nvPr/>
        </p:nvSpPr>
        <p:spPr>
          <a:xfrm>
            <a:off x="8534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B6F15528-21DE-4FAA-801E-634DDDAF4B2B}" type="slidenum">
              <a:rPr lang="en-US" sz="1200">
                <a:latin typeface="Rockwell" pitchFamily="18" charset="0"/>
              </a:rPr>
              <a:pPr algn="r">
                <a:defRPr/>
              </a:pPr>
              <a:t>43</a:t>
            </a:fld>
            <a:endParaRPr lang="en-US" sz="1200" dirty="0">
              <a:latin typeface="Rockwell" pitchFamily="18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FE0A074B-E472-6E27-FBB0-E77A420FDF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148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B605ED30-2BC7-78C5-E61B-AFBDADDAB81A}"/>
              </a:ext>
            </a:extLst>
          </p:cNvPr>
          <p:cNvSpPr txBox="1">
            <a:spLocks/>
          </p:cNvSpPr>
          <p:nvPr/>
        </p:nvSpPr>
        <p:spPr>
          <a:xfrm>
            <a:off x="1880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Waste History Screen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8CEDB194-7C30-34FF-43B7-B66586158B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0459" y="12255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06226534-E1EA-8A85-CDC4-5C37D0CEDB05}"/>
              </a:ext>
            </a:extLst>
          </p:cNvPr>
          <p:cNvSpPr txBox="1">
            <a:spLocks/>
          </p:cNvSpPr>
          <p:nvPr/>
        </p:nvSpPr>
        <p:spPr>
          <a:xfrm>
            <a:off x="2055875" y="6608708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itchFamily="18" charset="0"/>
              </a:rPr>
              <a:t>Smart Waste Management System (SWMS)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77B5DB-B7B8-8336-4691-A2C9887675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5" y="990600"/>
            <a:ext cx="10591800" cy="544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5861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E8021-3A50-F6EE-98E4-FE1747BC3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12BAD-E299-3991-DD78-1418ADEB0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171857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                     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579FEC76-2234-FE69-A7AC-2EDAAADE25F6}"/>
              </a:ext>
            </a:extLst>
          </p:cNvPr>
          <p:cNvSpPr txBox="1">
            <a:spLocks/>
          </p:cNvSpPr>
          <p:nvPr/>
        </p:nvSpPr>
        <p:spPr>
          <a:xfrm>
            <a:off x="8534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B6F15528-21DE-4FAA-801E-634DDDAF4B2B}" type="slidenum">
              <a:rPr lang="en-US" sz="1200">
                <a:latin typeface="Rockwell" pitchFamily="18" charset="0"/>
              </a:rPr>
              <a:pPr algn="r">
                <a:defRPr/>
              </a:pPr>
              <a:t>44</a:t>
            </a:fld>
            <a:endParaRPr lang="en-US" sz="1200" dirty="0">
              <a:latin typeface="Rockwell" pitchFamily="18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61F7BDE1-DC26-130F-1368-CEB060B13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148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D4E3C28B-3216-A9E1-D289-6F7E7339AF7A}"/>
              </a:ext>
            </a:extLst>
          </p:cNvPr>
          <p:cNvSpPr txBox="1">
            <a:spLocks/>
          </p:cNvSpPr>
          <p:nvPr/>
        </p:nvSpPr>
        <p:spPr>
          <a:xfrm>
            <a:off x="1880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Report Screen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500BFCA6-54C9-90A9-6176-BCFB6183FD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0459" y="12255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C5447E52-6E3E-6A17-6B88-9498575DCFE8}"/>
              </a:ext>
            </a:extLst>
          </p:cNvPr>
          <p:cNvSpPr txBox="1">
            <a:spLocks/>
          </p:cNvSpPr>
          <p:nvPr/>
        </p:nvSpPr>
        <p:spPr>
          <a:xfrm>
            <a:off x="2055875" y="6608708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itchFamily="18" charset="0"/>
              </a:rPr>
              <a:t>Smart Waste Management System (SWMS)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3BFDA5-0FEC-3B1B-11F4-2F924D16D5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308" y="1052793"/>
            <a:ext cx="10311384" cy="5247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4435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CDE8F-292D-A701-E424-DD15E8030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07562-C7ED-9B0A-4197-FBD9A3C3D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171857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                     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879D0F22-7D58-2BAE-178C-1E0B355890F4}"/>
              </a:ext>
            </a:extLst>
          </p:cNvPr>
          <p:cNvSpPr txBox="1">
            <a:spLocks/>
          </p:cNvSpPr>
          <p:nvPr/>
        </p:nvSpPr>
        <p:spPr>
          <a:xfrm>
            <a:off x="8534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B6F15528-21DE-4FAA-801E-634DDDAF4B2B}" type="slidenum">
              <a:rPr lang="en-US" sz="1200">
                <a:latin typeface="Rockwell" pitchFamily="18" charset="0"/>
              </a:rPr>
              <a:pPr algn="r">
                <a:defRPr/>
              </a:pPr>
              <a:t>45</a:t>
            </a:fld>
            <a:endParaRPr lang="en-US" sz="1200" dirty="0">
              <a:latin typeface="Rockwell" pitchFamily="18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AD1EE453-2042-036A-2D51-D05ED9892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148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506EB2CC-B2A6-6F18-4116-373EE3CE4497}"/>
              </a:ext>
            </a:extLst>
          </p:cNvPr>
          <p:cNvSpPr txBox="1">
            <a:spLocks/>
          </p:cNvSpPr>
          <p:nvPr/>
        </p:nvSpPr>
        <p:spPr>
          <a:xfrm>
            <a:off x="1880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Settings Screen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CDAE3437-227F-BF7F-33C6-8FFD74EA6C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0459" y="12255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FE1C5661-CBB1-26C1-3922-E0F6F05F9557}"/>
              </a:ext>
            </a:extLst>
          </p:cNvPr>
          <p:cNvSpPr txBox="1">
            <a:spLocks/>
          </p:cNvSpPr>
          <p:nvPr/>
        </p:nvSpPr>
        <p:spPr>
          <a:xfrm>
            <a:off x="2055875" y="6608708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itchFamily="18" charset="0"/>
              </a:rPr>
              <a:t>Smart Waste Management System (SWMS)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E51F66-2B76-3A30-504E-A910BEBA60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914400"/>
            <a:ext cx="10210800" cy="530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4746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838200"/>
            <a:ext cx="11050738" cy="3276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SWMS demonstrates how computer vision + structured data management can modernize waste operations.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Delivered a fully working desktop prototype covering detection, fleet, alerts, and reporting.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on a modular, scalable architecture ready for future enhancements: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sync &amp; multi-tenant support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companion app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bin sensors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predictive analytics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validates the feasibility of an affordable, offline-capable smart waste solution.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B6F15528-21DE-4FAA-801E-634DDDAF4B2B}" type="slidenum">
              <a:rPr lang="en-US" sz="1200">
                <a:latin typeface="Rockwell" pitchFamily="18" charset="0"/>
              </a:rPr>
              <a:pPr algn="r">
                <a:defRPr/>
              </a:pPr>
              <a:t>46</a:t>
            </a:fld>
            <a:endParaRPr lang="en-US" sz="1200" dirty="0">
              <a:latin typeface="Rockwell" pitchFamily="18" charset="0"/>
            </a:endParaRPr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1524000" y="6629400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itchFamily="18" charset="0"/>
              </a:rPr>
              <a:t>Smart Waste Management System (SWMS)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380301D-C2FB-CCEB-FB5A-5CBF63681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171857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                     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1DE960E5-FF35-9EDD-969F-C0694B5F1A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148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9273AB02-C084-AA6E-F2F1-F54E1B680830}"/>
              </a:ext>
            </a:extLst>
          </p:cNvPr>
          <p:cNvSpPr txBox="1">
            <a:spLocks/>
          </p:cNvSpPr>
          <p:nvPr/>
        </p:nvSpPr>
        <p:spPr>
          <a:xfrm>
            <a:off x="1880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02CF62C1-2383-F445-35E0-46DA1FB19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0459" y="12255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152400"/>
            <a:ext cx="79248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2600" y="762000"/>
            <a:ext cx="8763000" cy="5791200"/>
          </a:xfrm>
        </p:spPr>
        <p:txBody>
          <a:bodyPr>
            <a:normAutofit fontScale="32500" lnSpcReduction="20000"/>
          </a:bodyPr>
          <a:lstStyle/>
          <a:p>
            <a:pPr marL="514350" indent="-514350" algn="just">
              <a:lnSpc>
                <a:spcPct val="22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Adedeji, O. and Wang, Z. (2019) 'Intelligent waste classification system using deep learning convolutional neural network', Procedia Manufacturing, 35, pp. 607-612. doi: 10.1016/j.promfg.2019.05.086</a:t>
            </a:r>
          </a:p>
          <a:p>
            <a:pPr marL="514350" indent="-514350" algn="just">
              <a:lnSpc>
                <a:spcPct val="22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Banerjee, A. and Watson, T. F. (2011) Pickard's manual of operative dentistry. 9th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Oxford: Oxford University Press.</a:t>
            </a:r>
          </a:p>
          <a:p>
            <a:pPr marL="514350" indent="-514350" algn="just">
              <a:lnSpc>
                <a:spcPct val="22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Beazley, D. and Jones, B. K. (2013) Python cookbook. 3rd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Sebastopol: O'Reilly Media.</a:t>
            </a:r>
          </a:p>
          <a:p>
            <a:pPr marL="514350" indent="-514350" algn="just">
              <a:lnSpc>
                <a:spcPct val="220000"/>
              </a:lnSpc>
              <a:buFont typeface="+mj-lt"/>
              <a:buAutoNum type="arabicPeriod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Bushnag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(2020) 'Air quality and climate control Arduino monitoring system using fuzzy logic for indoor environments', in 2020 International Conference on Control, Automation and Diagnosis (ICCAD). IEEE, pp. 1-6. doi: 10.1109/ICCAD49821.2020.9260552</a:t>
            </a:r>
          </a:p>
          <a:p>
            <a:pPr marL="514350" indent="-514350" algn="just">
              <a:lnSpc>
                <a:spcPct val="22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Environment, Bangladesh (2021) State of solid waste management in Bangladesh: 2021 status report. Dhaka: Government of Bangladesh.</a:t>
            </a:r>
          </a:p>
          <a:p>
            <a:pPr marL="514350" indent="-514350" algn="just">
              <a:lnSpc>
                <a:spcPct val="22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Hossain, M. S. and Rahman, A. (2020) 'A study on solid waste management in Dhaka city', Journal of Environmental Science and Sustainable Development, 3(2), pp. 45-58.</a:t>
            </a:r>
          </a:p>
          <a:p>
            <a:pPr marL="514350" indent="-514350" algn="just">
              <a:lnSpc>
                <a:spcPct val="22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Kaza, S., Yao, L.,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Bhada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-Tata, P. and Van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Woerden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F. (2018) What a Waste 2.0: A global snapshot of solid waste management to 2050. Washington: World Bank Group.</a:t>
            </a:r>
          </a:p>
          <a:p>
            <a:pPr marL="514350" indent="-514350" algn="just">
              <a:lnSpc>
                <a:spcPct val="22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Knapik, J. J., Cosio-Lima, L. M. and Reynolds, K. L. (2015) 'Efficacy of functional movement screening for predicting injuries in coast guard cadets', The Journal of Strength and Conditioning Research, 29(5), pp. 1157-1162.</a:t>
            </a:r>
          </a:p>
          <a:p>
            <a:pPr marL="514350" indent="-514350" algn="just">
              <a:lnSpc>
                <a:spcPct val="22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Lutz, M. (2013) Learning Python. 5th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Sebastopol: O'Reilly Media.</a:t>
            </a:r>
          </a:p>
          <a:p>
            <a:pPr marL="514350" indent="-514350" algn="just">
              <a:lnSpc>
                <a:spcPct val="22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Development Team (2024) Matplotlib documentation. Available at: https://matplotlib.org/stable/ (Accessed: 12 March 2026).</a:t>
            </a:r>
          </a:p>
          <a:p>
            <a:pPr marL="514350" indent="-514350" algn="just">
              <a:lnSpc>
                <a:spcPct val="22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Pahl, C. and Mani, N. (2014) 'Managing quality constraints in technology-managed learning content processes',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EdMedia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2014 World Conference on Educational Media and Technology, June 23-26, Tampere. Chesapeake: AACE, pp. 153-161.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B6F15528-21DE-4FAA-801E-634DDDAF4B2B}" type="slidenum">
              <a:rPr lang="en-US" sz="1200">
                <a:latin typeface="Rockwell" pitchFamily="18" charset="0"/>
              </a:rPr>
              <a:pPr algn="r">
                <a:defRPr/>
              </a:pPr>
              <a:t>47</a:t>
            </a:fld>
            <a:endParaRPr lang="en-US" sz="1200" dirty="0">
              <a:latin typeface="Rockwell" pitchFamily="18" charset="0"/>
            </a:endParaRP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5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031922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Slide Number Placeholder 3"/>
          <p:cNvSpPr txBox="1">
            <a:spLocks/>
          </p:cNvSpPr>
          <p:nvPr/>
        </p:nvSpPr>
        <p:spPr>
          <a:xfrm>
            <a:off x="1524000" y="6629400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itchFamily="18" charset="0"/>
              </a:rPr>
              <a:t>Smart Waste Management System (SWMS)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383B98D-F20F-4774-A68C-0357B8E78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2362200"/>
            <a:ext cx="6425184" cy="914400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latin typeface="Forte" panose="03060902040502070203" pitchFamily="66" charset="0"/>
              </a:rPr>
              <a:t>Any Questions ?</a:t>
            </a:r>
          </a:p>
        </p:txBody>
      </p:sp>
    </p:spTree>
    <p:extLst>
      <p:ext uri="{BB962C8B-B14F-4D97-AF65-F5344CB8AC3E}">
        <p14:creationId xmlns:p14="http://schemas.microsoft.com/office/powerpoint/2010/main" val="9727820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048000" y="2819400"/>
            <a:ext cx="6172200" cy="990600"/>
          </a:xfrm>
        </p:spPr>
        <p:txBody>
          <a:bodyPr>
            <a:noAutofit/>
          </a:bodyPr>
          <a:lstStyle/>
          <a:p>
            <a:pPr algn="ctr"/>
            <a:r>
              <a:rPr lang="en-US" sz="3600" b="0" dirty="0">
                <a:latin typeface="Forte" pitchFamily="66" charset="0"/>
              </a:rPr>
              <a:t>Thank</a:t>
            </a:r>
            <a:r>
              <a:rPr lang="en-US" sz="3600" b="0" dirty="0">
                <a:latin typeface="Rage Italic" pitchFamily="66" charset="0"/>
              </a:rPr>
              <a:t> </a:t>
            </a:r>
            <a:r>
              <a:rPr lang="en-US" sz="3600" b="0" dirty="0">
                <a:latin typeface="Forte" pitchFamily="66" charset="0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2125</TotalTime>
  <Words>2717</Words>
  <Application>Microsoft Office PowerPoint</Application>
  <PresentationFormat>Widescreen</PresentationFormat>
  <Paragraphs>347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9" baseType="lpstr">
      <vt:lpstr>Arial</vt:lpstr>
      <vt:lpstr>Arial Narrow</vt:lpstr>
      <vt:lpstr>Calibri</vt:lpstr>
      <vt:lpstr>Courier New</vt:lpstr>
      <vt:lpstr>Forte</vt:lpstr>
      <vt:lpstr>Rage Italic</vt:lpstr>
      <vt:lpstr>Rockwell</vt:lpstr>
      <vt:lpstr>Times New Roman</vt:lpstr>
      <vt:lpstr>Wingdings</vt:lpstr>
      <vt:lpstr>Office Theme</vt:lpstr>
      <vt:lpstr>  Department of  Computer Science and Engineering </vt:lpstr>
      <vt:lpstr>Contents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</vt:lpstr>
      <vt:lpstr>                                   </vt:lpstr>
      <vt:lpstr>                                   </vt:lpstr>
      <vt:lpstr>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Class Diagram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References</vt:lpstr>
      <vt:lpstr>Any Questions ?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Muradul Islam</dc:creator>
  <cp:lastModifiedBy>Muradul Islam</cp:lastModifiedBy>
  <cp:revision>197</cp:revision>
  <dcterms:created xsi:type="dcterms:W3CDTF">2021-05-07T10:10:49Z</dcterms:created>
  <dcterms:modified xsi:type="dcterms:W3CDTF">2026-05-26T11:25:32Z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2026-05-17T22:00:31Z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8b815924-aee4-4121-a24c-ea50d7e938c9</vt:lpwstr>
  </property>
  <property fmtid="{D5CDD505-2E9C-101B-9397-08002B2CF9AE}" pid="7" name="MSIP_Label_defa4170-0d19-0005-0004-bc88714345d2_ActionId">
    <vt:lpwstr>48862d79-3b59-4970-b88d-b62ebaa715d3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