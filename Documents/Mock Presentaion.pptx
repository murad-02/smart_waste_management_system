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51"/>
  </p:notesMasterIdLst>
  <p:sldIdLst>
    <p:sldId id="256" r:id="rId2"/>
    <p:sldId id="262" r:id="rId3"/>
    <p:sldId id="257" r:id="rId4"/>
    <p:sldId id="286" r:id="rId5"/>
    <p:sldId id="287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09" r:id="rId28"/>
    <p:sldId id="327" r:id="rId29"/>
    <p:sldId id="310" r:id="rId30"/>
    <p:sldId id="311" r:id="rId31"/>
    <p:sldId id="312" r:id="rId32"/>
    <p:sldId id="313" r:id="rId33"/>
    <p:sldId id="314" r:id="rId34"/>
    <p:sldId id="315" r:id="rId35"/>
    <p:sldId id="316" r:id="rId36"/>
    <p:sldId id="317" r:id="rId37"/>
    <p:sldId id="318" r:id="rId38"/>
    <p:sldId id="319" r:id="rId39"/>
    <p:sldId id="320" r:id="rId40"/>
    <p:sldId id="321" r:id="rId41"/>
    <p:sldId id="322" r:id="rId42"/>
    <p:sldId id="323" r:id="rId43"/>
    <p:sldId id="324" r:id="rId44"/>
    <p:sldId id="325" r:id="rId45"/>
    <p:sldId id="326" r:id="rId46"/>
    <p:sldId id="285" r:id="rId47"/>
    <p:sldId id="274" r:id="rId48"/>
    <p:sldId id="283" r:id="rId49"/>
    <p:sldId id="275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53" autoAdjust="0"/>
    <p:restoredTop sz="94291" autoAdjust="0"/>
  </p:normalViewPr>
  <p:slideViewPr>
    <p:cSldViewPr>
      <p:cViewPr varScale="1">
        <p:scale>
          <a:sx n="82" d="100"/>
          <a:sy n="82" d="100"/>
        </p:scale>
        <p:origin x="725" y="5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5A85DC-018B-4F1D-9BCC-BA10FDA96A23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7B5672-ADE6-4DA2-A2C7-8376839EE4B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4B66D-A5CE-42A1-9C05-46FA3E94CC3F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3516B-352B-4793-B7C4-6C06A4F4800D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6EF37-A94C-4534-A2B1-CC2022CDC647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423B4-94AB-4286-8811-583146B7BAD5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A0EDA-E9E5-48B8-905D-8AC44EBBC9FD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50185-9017-4836-A92F-BB05BFBC62F1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0F54A-25BC-482D-8D56-0755565FF8F0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AC85E-12E0-4562-8829-CBECA72C9894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00E6C-C80E-4CD4-82EA-A20BF1A29307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28D4A-0135-440A-97ED-D0FA805DB767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E3F86-EE01-4EA4-B63B-715E83139625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3F5DE8-46B7-43C6-92B6-780BCD9A2D43}" type="datetime2">
              <a:rPr lang="en-US" smtClean="0"/>
              <a:pPr/>
              <a:t>Tuesday, May 26,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C7CCF0-62DE-494F-9F4A-E5843DC29DE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3A0814C-5892-9A81-1FF8-3FC0CD82DA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1721" y="3000346"/>
            <a:ext cx="7620000" cy="18288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br>
              <a:rPr lang="en-US" sz="2700" dirty="0">
                <a:latin typeface="Times New Roman" panose="02020603050405020304" pitchFamily="18" charset="0"/>
                <a:cs typeface="Times New Roman" pitchFamily="18" charset="0"/>
              </a:rPr>
            </a:br>
            <a:br>
              <a:rPr lang="en-US" sz="2200" b="1" dirty="0">
                <a:latin typeface="Times New Roman" panose="02020603050405020304" pitchFamily="18" charset="0"/>
                <a:cs typeface="Times New Roman" pitchFamily="18" charset="0"/>
              </a:rPr>
            </a:br>
            <a:r>
              <a:rPr lang="en-US" sz="2200" b="1" dirty="0">
                <a:latin typeface="Times New Roman" panose="02020603050405020304" pitchFamily="18" charset="0"/>
                <a:cs typeface="Times New Roman" pitchFamily="18" charset="0"/>
              </a:rPr>
              <a:t>Department of  Computer Science and Engineering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WordArt 5">
            <a:extLst>
              <a:ext uri="{FF2B5EF4-FFF2-40B4-BE49-F238E27FC236}">
                <a16:creationId xmlns:a16="http://schemas.microsoft.com/office/drawing/2014/main" id="{64321210-F7F5-833C-2F0E-44FA1536B25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268584" y="321277"/>
            <a:ext cx="7683137" cy="26778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1200" b="1" kern="10" spc="240" dirty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latin typeface="Arial Narrow"/>
              </a:rPr>
              <a:t>IUBAT–INTERNATIONAL UNIVERSITY OF BUSINESS AGRICULTURE AND TECHNOLOGY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AEDA63-CD71-DB64-252F-39303DCE36F4}"/>
              </a:ext>
            </a:extLst>
          </p:cNvPr>
          <p:cNvSpPr/>
          <p:nvPr/>
        </p:nvSpPr>
        <p:spPr>
          <a:xfrm>
            <a:off x="4648201" y="713602"/>
            <a:ext cx="27020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i="1" dirty="0">
                <a:solidFill>
                  <a:srgbClr val="008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Founded 1991 by Md. Alimullah Miyan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487723-92C6-BBDF-AAEC-ADA519671CC8}"/>
              </a:ext>
            </a:extLst>
          </p:cNvPr>
          <p:cNvSpPr/>
          <p:nvPr/>
        </p:nvSpPr>
        <p:spPr>
          <a:xfrm>
            <a:off x="2209800" y="1143000"/>
            <a:ext cx="78486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0A5907-69CC-CA49-A99C-057B2C414293}"/>
              </a:ext>
            </a:extLst>
          </p:cNvPr>
          <p:cNvSpPr/>
          <p:nvPr/>
        </p:nvSpPr>
        <p:spPr>
          <a:xfrm>
            <a:off x="4394671" y="3000346"/>
            <a:ext cx="39180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u="sng" dirty="0">
                <a:latin typeface="Times New Roman" panose="02020603050405020304" pitchFamily="18" charset="0"/>
                <a:cs typeface="Times New Roman" pitchFamily="18" charset="0"/>
              </a:rPr>
              <a:t>Course Code: Practicum CSC 490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37B33A4-265A-54B6-A78E-0527EE662A4D}"/>
              </a:ext>
            </a:extLst>
          </p:cNvPr>
          <p:cNvSpPr/>
          <p:nvPr/>
        </p:nvSpPr>
        <p:spPr>
          <a:xfrm>
            <a:off x="7772400" y="4724400"/>
            <a:ext cx="4800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u="sng" dirty="0">
                <a:latin typeface="Times New Roman" panose="02020603050405020304" pitchFamily="18" charset="0"/>
                <a:cs typeface="Times New Roman" pitchFamily="18" charset="0"/>
              </a:rPr>
              <a:t>Prepared by: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Md. Muradul Islam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22203234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C9B632-052F-0F62-BAC6-D1340841EDFF}"/>
              </a:ext>
            </a:extLst>
          </p:cNvPr>
          <p:cNvSpPr/>
          <p:nvPr/>
        </p:nvSpPr>
        <p:spPr>
          <a:xfrm>
            <a:off x="5518182" y="6302340"/>
            <a:ext cx="122341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itchFamily="18" charset="0"/>
              </a:rPr>
              <a:t>18/5/2026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D68A41-E165-5C44-83F2-DD2C9276181B}"/>
              </a:ext>
            </a:extLst>
          </p:cNvPr>
          <p:cNvSpPr/>
          <p:nvPr/>
        </p:nvSpPr>
        <p:spPr>
          <a:xfrm>
            <a:off x="2040299" y="4724400"/>
            <a:ext cx="35052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b="1" u="sng" dirty="0">
                <a:latin typeface="Times New Roman" panose="02020603050405020304" pitchFamily="18" charset="0"/>
                <a:cs typeface="Times New Roman" pitchFamily="18" charset="0"/>
              </a:rPr>
              <a:t>Supervised by: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Md. Khairul Islam</a:t>
            </a:r>
          </a:p>
          <a:p>
            <a:pPr>
              <a:spcAft>
                <a:spcPts val="600"/>
              </a:spcAft>
            </a:pPr>
            <a:r>
              <a:rPr lang="en-US" dirty="0">
                <a:latin typeface="Times New Roman" panose="02020603050405020304" pitchFamily="18" charset="0"/>
                <a:cs typeface="Times New Roman" pitchFamily="18" charset="0"/>
              </a:rPr>
              <a:t>Lecturer </a:t>
            </a:r>
          </a:p>
        </p:txBody>
      </p:sp>
      <p:pic>
        <p:nvPicPr>
          <p:cNvPr id="32" name="Picture 31" descr="Logo">
            <a:extLst>
              <a:ext uri="{FF2B5EF4-FFF2-40B4-BE49-F238E27FC236}">
                <a16:creationId xmlns:a16="http://schemas.microsoft.com/office/drawing/2014/main" id="{FE8850A5-AB16-2156-4849-D5C8EBB5FD6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0" y="3802245"/>
            <a:ext cx="457200" cy="470535"/>
          </a:xfrm>
          <a:prstGeom prst="rect">
            <a:avLst/>
          </a:prstGeom>
          <a:noFill/>
        </p:spPr>
      </p:pic>
      <p:pic>
        <p:nvPicPr>
          <p:cNvPr id="33" name="Picture 4">
            <a:extLst>
              <a:ext uri="{FF2B5EF4-FFF2-40B4-BE49-F238E27FC236}">
                <a16:creationId xmlns:a16="http://schemas.microsoft.com/office/drawing/2014/main" id="{5BB78B6C-A1BD-2C1A-FFBE-3BBA5FE85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00200" y="15240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" name="Picture 2">
            <a:extLst>
              <a:ext uri="{FF2B5EF4-FFF2-40B4-BE49-F238E27FC236}">
                <a16:creationId xmlns:a16="http://schemas.microsoft.com/office/drawing/2014/main" id="{1BE7F60B-46F2-E98A-7786-B02FFB6DB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0031922" y="19812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52400"/>
            <a:ext cx="7924800" cy="457200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75486" y="1339193"/>
            <a:ext cx="5334000" cy="4492752"/>
          </a:xfrm>
        </p:spPr>
        <p:txBody>
          <a:bodyPr>
            <a:normAutofit/>
          </a:bodyPr>
          <a:lstStyle/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 of the Project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Process Model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Analysis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Engineering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Planning &amp; Scheduling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5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031922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ACB48F1-E1E7-516A-EF0E-5A8920CAD7B3}"/>
              </a:ext>
            </a:extLst>
          </p:cNvPr>
          <p:cNvSpPr txBox="1">
            <a:spLocks/>
          </p:cNvSpPr>
          <p:nvPr/>
        </p:nvSpPr>
        <p:spPr>
          <a:xfrm>
            <a:off x="6781800" y="1182624"/>
            <a:ext cx="5334000" cy="4492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</a:t>
            </a:r>
            <a:r>
              <a:rPr lang="en-GB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Management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Interface Pictures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Demonstration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571500" indent="-457200">
              <a:lnSpc>
                <a:spcPct val="150000"/>
              </a:lnSpc>
              <a:buSzPts val="1800"/>
            </a:pP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CAABC7D-CF10-4FCE-B691-B41DF8B61C7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Introduction 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>
          <a:xfrm>
            <a:off x="533400" y="1213586"/>
            <a:ext cx="11050738" cy="4724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Urban waste generation is rising rapidly, but collection systems remain manual and reactive.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Smart Waste Management System (SWMS) is a Python-based desktop application that combines: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Computer-vision waste detection (bin &amp; waste-type recognition)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Fleet management (trucks, drivers, routes, trips, maintenance)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Analytics, alerts, and PDF reporting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with PyQt5, SQLAlchemy/SQLite, and a YOLO-based detection model.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municipalities, waste-collection companies, and campus operations teams.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/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A92-9915-0145-8340-E0171EEF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8C599-1185-7A28-1A57-C45D77152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6E10CF0-A3C7-69EF-4082-BA87E6FACAD0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5D5BE91-F0EF-BF2A-1E14-1CC5CFF34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6E68C5C-B580-1B7C-7AD8-EF849E113D09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Features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9AB92F2-180F-6583-6A00-807001F3BD19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4724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&amp; Role-Based Access Control: Admin / Supervisor / Operator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 Detection: image upload + real-time video detection (YOLO)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 Fill-Level Prediction: empty, half, almost-full, full, overflowing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Dashboard: KPIs, category distribution, 7-day &amp; 30-day trend charts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 History: filter, verify/reject, delete, export to CSV/Excel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Fleet Module: Trucks, Drivers, Routes, Trips, Maintenance, Fleet Dashboard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Alerts &amp; Rules: threshold-based, severity levels, email notifications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PDF Reports: summary, detailed, and category reports for any date range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Settings: SMTP configuration, company info, password management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3A35ED1-D3E9-04DC-56D8-1BE390917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95320DE-1D01-B9FE-870F-111F8A0A7250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018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6482E-F9C6-5D9C-296E-4E72A81F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D3958-8F37-E2E9-2706-933C9488D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E1135E5-7BF1-681E-6D68-B8BDBB360C5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FC86289-EBA1-C71D-484C-4BC9FA063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1AA9D7D3-A6A8-2383-C3BE-1A4B0AADD24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Benefits of the Project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8E1419B-9746-2B7F-6FD4-EAFD914E4E3F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4724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Efficiency: automates waste classification and bin monitoring.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 Reduction: optimized routes and trip planning lower fuel &amp; labor costs.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Decisions: analytics and reports support strategic planning.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Impact: Better segregation increases recycling rates.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Accountability: activity logs and role-based access ensure traceability.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Scalability: modular architecture allows adding new modules (e.g., IoT sensors, mobile apps).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Demonstrable Prototype: fully functional desktop app ready for stakeholder demos.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A3A7E31-8D0C-3A71-060F-DBC465388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AD306F1E-F11E-3D1E-E149-FF8E12794CD0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29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C35BE-5B2A-E671-08A0-F70BF245A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3046-EA1E-938E-7CFC-F3336DE9C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1E3136B-3323-57D7-8C74-1AF94315420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5D108AE-DAE6-0171-7889-7D9AE1993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3B1A6E2-B86B-2C8B-57FD-021E3FD54C91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Software Process Model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556A59D-7DC5-960C-3693-31111E54BB47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6324600" cy="5181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Used: Incremental Model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was built in clear, working increments: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+ Database Layer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+ UI Shell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 Detection (mock → real YOLO model)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History, Alerts, Reports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Fleet Management Module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Incremental?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module delivered working value early.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Easier to test and demo at every stage.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evolving requirements (mock → real ML model).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risk compared to Waterfall.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E35CF5A-03D7-953A-9387-94354813E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A17EAA8F-11E8-3E58-64FB-3D1DFA6FB7F8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What is iterative and incremental development? Process, examples -  LogRocket Blog">
            <a:extLst>
              <a:ext uri="{FF2B5EF4-FFF2-40B4-BE49-F238E27FC236}">
                <a16:creationId xmlns:a16="http://schemas.microsoft.com/office/drawing/2014/main" id="{457AEE7D-144D-B3A5-6897-DAEE001797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6550" y="2002790"/>
            <a:ext cx="5067300" cy="28524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CFB3A1-898C-6F52-B27C-C5F82B0EC99C}"/>
              </a:ext>
            </a:extLst>
          </p:cNvPr>
          <p:cNvSpPr txBox="1"/>
          <p:nvPr/>
        </p:nvSpPr>
        <p:spPr>
          <a:xfrm>
            <a:off x="8155574" y="5381675"/>
            <a:ext cx="24721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1: Incremental Process Model</a:t>
            </a:r>
          </a:p>
        </p:txBody>
      </p:sp>
    </p:spTree>
    <p:extLst>
      <p:ext uri="{BB962C8B-B14F-4D97-AF65-F5344CB8AC3E}">
        <p14:creationId xmlns:p14="http://schemas.microsoft.com/office/powerpoint/2010/main" val="1014719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DB6C6-8747-FD29-9715-5B21F8341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6788B-C83C-4B9F-2BEE-E31EDE49C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8B001FA-C620-832A-F455-7FE2E4D718A8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F4E0BCC-0A13-D4B5-1435-6462FEAE1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57F8239-4FC8-F978-8C38-F864EA95F1A1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Feasibility Analysis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1FD214F-F5BE-3679-A0A0-26F2E92B5A87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5181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stack (PyQt5, SQLAlchemy, PyTorch/YOLO) - well documented.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Runs on standard Windows / Linux machines, no special hardware required.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Feasibility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dependencies - zero licensing cost.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 SQLite DB - no server infrastructure needed.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Intuitive UI with role-based menus; minimal training required.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Runs offline; suitable for low-connectivity sites.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826ADB3-D8CC-17E0-EE4C-EB7669A17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A16E24A-224D-CFC9-D5A4-7120065B5333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252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1F5F7-6665-638E-787E-89AC4160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C9DED-0B4F-625E-F1AC-E774FE108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3C6F95C-C6FA-736E-5308-0570B5CAE082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8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F4906599-5982-9F77-48CE-C485EF424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CB1E208-99C3-5204-AD42-5FB64713E868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Requirement Engineering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BF0D6A4-0A4D-B200-CCE4-B13CFC471C15}"/>
              </a:ext>
            </a:extLst>
          </p:cNvPr>
          <p:cNvSpPr txBox="1">
            <a:spLocks/>
          </p:cNvSpPr>
          <p:nvPr/>
        </p:nvSpPr>
        <p:spPr>
          <a:xfrm>
            <a:off x="533400" y="1066800"/>
            <a:ext cx="11050738" cy="2514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Requirement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A02482A2-384A-FC47-B4C6-54B89C04F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4F13AF6A-2931-5A84-CD1D-BC01CF737D6B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604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C0FF5-23DB-1566-7C68-2B84E75C9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C5176-6EB4-9874-9382-12AF14815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2D3C7BE-7318-E033-B327-1F8F2CB7AFF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9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78BC6A2-64CD-B222-4E6B-8D84096CE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DEC79D2-EBCA-6890-1EE9-7FDA8CFF0B4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User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4F329DB-F7F7-9781-7BAD-F89513E39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A134B34-7FB7-6EB2-1792-2F2A649FCCC1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69EA37-548D-D23F-D7E7-86DC0FEDE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7548" y="766391"/>
            <a:ext cx="6296904" cy="5325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450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5B9EE-8619-1755-2E4D-789D38C61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6817C-2E2F-AB29-6601-9A7C545CD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13C45F06-366B-0B6A-CBC6-01B4551BF021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48EC484C-4890-E598-5219-50B20B8D4A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02583B9-541E-CABF-8703-5AB538A0F2F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A6CE0A0-610A-E0F9-1FAD-40977B3B57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8FAC2DEB-68F8-5B36-C9AF-BE3C6800BD22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B4433D-1EA1-52D5-0E90-490A5D396128}"/>
              </a:ext>
            </a:extLst>
          </p:cNvPr>
          <p:cNvSpPr txBox="1"/>
          <p:nvPr/>
        </p:nvSpPr>
        <p:spPr>
          <a:xfrm>
            <a:off x="533400" y="990600"/>
            <a:ext cx="11050738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and Session Handling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 User launches the app and is presented with a login screen.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1.2 Users type their login name and password and click on the Login button.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 The stored bcrypt hash for the username is retrieved and compared against the password entered.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 If the match succeeds, the system updates the 'Last Logged In' date on that user and brings up the main app window.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1.5 On a failed match, the system shows an “Invalid credentials” message and keeps the user on the login screen.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1.6 The user's role (admin, supervisor, or operator) is loaded, and 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check_permission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helper is exposed that takes the hierarchy of admin, supervisor, and operator into account for all actions protected by the system.</a:t>
            </a:r>
          </a:p>
          <a:p>
            <a:pPr lvl="1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1.7 When the user clicks on Logout in the sidebar, it will terminate the current session and log the user out of the computer.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131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462D9-7D28-2C56-9A67-A918D290F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7A6A9-FA21-E186-74DD-C5C129CAB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FDA462C-A0E6-32E0-7A57-7D4F0C34E7F9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8DED78ED-2050-D407-4CEE-4B81FF19BB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274D25E-4788-EF51-7DF6-85D3205A7D2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D73F71B-02E2-9F98-EFCF-00DC168AD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94116BE9-AAEA-6150-2BF2-EE46FB44385C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6CB96-54AC-5170-6BE4-5A94BCB72477}"/>
              </a:ext>
            </a:extLst>
          </p:cNvPr>
          <p:cNvSpPr txBox="1"/>
          <p:nvPr/>
        </p:nvSpPr>
        <p:spPr>
          <a:xfrm>
            <a:off x="533400" y="990600"/>
            <a:ext cx="11050738" cy="419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User Management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 Admin clicks on Users from the left side menu to open the user’s management screen.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 Admin pushes the Add User button, enters username, full name, email, role, and initial password, and clicks Save.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2.3 The password is hashed in the system using bcrypt, the new user is added, and an entry is added to the activity log.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2.4 Admin clicks on a user and then Edit to update the user's name, emails, or role, then Save to save the change.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2.5 Admin chooses a user and clicks Deactivate to disable the account, which is not possible if the user selected to be deactivated is the currently logged-in admin.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2.6 Admin decides to reactivate the user and clicks Reactivate to restore access to the user.</a:t>
            </a:r>
          </a:p>
        </p:txBody>
      </p:sp>
    </p:spTree>
    <p:extLst>
      <p:ext uri="{BB962C8B-B14F-4D97-AF65-F5344CB8AC3E}">
        <p14:creationId xmlns:p14="http://schemas.microsoft.com/office/powerpoint/2010/main" val="3445132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E613-DE92-34B7-0813-0A9465C6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74B94-F774-780A-B99E-37564810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0C5AD40-BE9A-53E3-A3CC-15A50C0DDF3B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89D25B34-06EF-AAD7-5A57-55839AB7D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88C544A7-6074-7165-AA45-98E09F6316C2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Functional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76E9136-2542-8CE9-42D3-5AE6A273A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78CC901-DAB0-28A6-FEC0-BEF0ECC8C092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F47A7-6F5A-BBAC-E715-8F826D499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600" y="741374"/>
            <a:ext cx="6548905" cy="5775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455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58676-B4E8-A2E7-A01B-93DF28C7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6B080-048E-3B27-3624-7E2FD7113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68F1A909-F882-9669-C6E1-975A89B8841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662B05A-4EF7-73A4-961B-C5CC7B8F2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323BD25-52D5-31AF-53DB-7F4DB04E1249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Non-Functional Requirements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A04EDB59-5B2B-3D6C-E316-587FFFBF9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1E87C12-8B4A-7FDF-CC46-70A59D4E9FA4}"/>
              </a:ext>
            </a:extLst>
          </p:cNvPr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930C7F-ACB4-3869-1D32-DAABBD7611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232" y="971207"/>
            <a:ext cx="6887536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928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D8018-8174-499C-435D-51DE8B2D3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9BAAC-E012-FBCD-586E-0ACE36D61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6A6D64EC-E2F6-94D8-2484-154A8527B102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B7D1FE35-E1AD-B08A-7849-BB9924710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AB6BD4A-DD9E-9DB7-831D-692623B65250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Use Case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3F644F5-6D26-0BC0-9594-8007E720C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C529DAE-9698-C0FE-2D67-E7456816602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93392-E314-3ABE-42A9-FE9AA7E86E56}"/>
              </a:ext>
            </a:extLst>
          </p:cNvPr>
          <p:cNvSpPr txBox="1"/>
          <p:nvPr/>
        </p:nvSpPr>
        <p:spPr>
          <a:xfrm>
            <a:off x="4933998" y="6228942"/>
            <a:ext cx="19399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2: Use Case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B35F20-7A36-8DAF-6878-967DE7885B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2111" y="666761"/>
            <a:ext cx="8207778" cy="597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864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6CF6-1F12-07BB-9BE6-E339410D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6B99-61B7-FD63-C107-685C7C7B3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9DFDB7C-5A14-0FB0-3BB8-D182FF846EF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30DBE8C7-71E3-4D88-F4A0-52CB9D2A8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640A463-F1E0-CB97-430F-78E1EEBB26C1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Planning &amp; Scheduling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2724325-F4D6-7588-7094-A335CE3D1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10564F42-D2FB-9FC0-555C-6E903E9DDA10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964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8D433-6BBD-9CB0-9BFB-A7AA25640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F7F21-7988-11ED-DED3-FA5463C27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2C1C15A4-D07A-D3E9-F8D6-BB2B9C0DC22B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D6BA05EB-70BF-07FE-5FB0-3C5F3A87FA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84E9B89F-2221-E658-E364-EA198DF8C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1A775CEB-BFF0-F510-1367-BE2C061E6B21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C0702-6CEF-2BE8-02A9-7EC6AC3DC642}"/>
              </a:ext>
            </a:extLst>
          </p:cNvPr>
          <p:cNvSpPr txBox="1"/>
          <p:nvPr/>
        </p:nvSpPr>
        <p:spPr>
          <a:xfrm>
            <a:off x="4880763" y="5532856"/>
            <a:ext cx="2430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3: Gantt Chart for the Project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89998F-06CF-3C6D-2A32-C3B9BBC61B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875" y="228600"/>
            <a:ext cx="9220200" cy="505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462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C03CB-B62D-7361-AC55-41ED4386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0E00C-AD1A-1494-4E81-B763C7905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6953BE56-2197-46B5-99D3-75EEE5ED2E60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072DAEE-6F82-B75C-51DD-264C4DB5C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1E72E940-C3A1-A808-572F-D33DEC82257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4583509-42E9-EDB9-CEF7-CB8550DD0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F2F6DF3-74C0-4BE5-9FA2-B6D903769ECC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E12076-83C0-B691-BE25-A7B30A69D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8085" y="727867"/>
            <a:ext cx="5515831" cy="15502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1F22D7-6B49-6332-D552-D1D668A8A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8085" y="2257099"/>
            <a:ext cx="5515830" cy="420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18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709C6-6AA3-F1EC-2C9D-FFE5D978D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3B363-274B-25B0-1507-53D9D2260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47C76A3-20AF-CE2D-A6BA-27A7D5235E7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18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3F9D8857-2DD0-C71C-5EAE-CD7CC492C1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686D77E-9011-C5D3-20E4-A4825BC30765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B1D0843E-F208-60D0-0945-57DE533BC6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D5F51DF-9B46-7174-8F88-F9A57A5BB5EB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86221F-6221-6B48-6E40-55D878BBD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399" y="939953"/>
            <a:ext cx="5272516" cy="1481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4ADAD7-E2E8-EBC4-7EDE-3069CCB47D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1399" y="2442517"/>
            <a:ext cx="5272515" cy="40179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9A04F2F-2B50-45B1-4111-2D0D25D2B3E5}"/>
              </a:ext>
            </a:extLst>
          </p:cNvPr>
          <p:cNvSpPr txBox="1"/>
          <p:nvPr/>
        </p:nvSpPr>
        <p:spPr>
          <a:xfrm>
            <a:off x="2856694" y="678767"/>
            <a:ext cx="609456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Table 6.1 Functionality, Input, and Output.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27907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AEF7A-1D48-8739-9BA0-EE0364405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00947-ACB6-582B-AF91-24CE51A1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54A163B-1FB9-0D1B-D37C-17DA3434C31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19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96BEDEE1-5DE0-C348-1593-A65BAAB30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29CB4E9-3A2E-9A84-3539-15371293785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 (cont.)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9CA0DD6-0BF7-94D2-C474-9A1CCCC7F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1AE3B614-F2AC-FEF7-C75F-B377E82FBB91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A989DC-28DA-070B-4DC0-47631EC6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655" y="762000"/>
            <a:ext cx="4934639" cy="24387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0CF61B-A273-6668-B43C-2C402F2C11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3812" y="3333682"/>
            <a:ext cx="4820323" cy="17337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B5E7FE-1525-6258-310D-A9D19DC3AF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4254" y="5067474"/>
            <a:ext cx="4944165" cy="134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99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31170-835A-DDF1-310E-0E0D1A64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79F02-BE70-B873-BD96-09D5CBE31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92CB3D7-CF97-D461-4CD8-B48380AC904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BAACE53-8196-6780-7389-BB2AF1642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494416B-EA0A-9918-DE35-73AE501EBEB8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 (cont.)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ABAB67D-DB81-AC75-C2DC-7EBFFE313B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AD0622C5-9FAB-1810-52DA-6677E793D200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CBAD6-E269-C41D-E589-5036234516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4398" y="838200"/>
            <a:ext cx="5201376" cy="22672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54F59F-2C60-8931-67E7-17586C507D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971" y="3105466"/>
            <a:ext cx="4706007" cy="905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1222992-00DC-26A3-437E-4D1B15E8AB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4260" y="4163928"/>
            <a:ext cx="5039428" cy="178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056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E287C-E211-4060-68C4-332205D7F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07D15-8523-E054-DA2D-BF94F0E33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3996533-27A7-A792-54F0-1DB3C599914E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FC2CFC16-73DE-0BBC-2AA0-DB2A42B929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0F5E2DC-C453-E18E-258B-6F4DA64333FB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Function Point Estimation (cont.)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68B128B-307F-777B-1462-1905DB117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5370D2C-A5FB-5ACD-54ED-18FE3D8CA934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50069-5813-279D-C404-42653085D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364" y="762000"/>
            <a:ext cx="5525271" cy="13146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FFE614-FCDA-3573-EE25-8EF6D0DFFC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432" y="2113140"/>
            <a:ext cx="5487166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172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D8194-B98E-775E-642B-7267E1801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971F1-2EEB-64C2-2C83-61C66D82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ECD9578-AB61-A7FF-EA7B-315F79D1F0D5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pPr algn="r">
                <a:defRPr/>
              </a:pPr>
              <a:t>22</a:t>
            </a:fld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31C0D0F-1C86-2DC1-F0AB-462D7295D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89284A5-B8B3-D972-79AA-60ABA4BB6E76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Project Estimation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B14CC292-473D-B311-F714-1D4C8B1A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2D4DCC1-E727-29D9-8973-36A59E24BA49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0D82E96-52AC-5EC6-99EB-A44B20110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10728"/>
              </p:ext>
            </p:extLst>
          </p:nvPr>
        </p:nvGraphicFramePr>
        <p:xfrm>
          <a:off x="3478371" y="1981200"/>
          <a:ext cx="5235258" cy="220767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2376247">
                  <a:extLst>
                    <a:ext uri="{9D8B030D-6E8A-4147-A177-3AD203B41FA5}">
                      <a16:colId xmlns:a16="http://schemas.microsoft.com/office/drawing/2014/main" val="603485967"/>
                    </a:ext>
                  </a:extLst>
                </a:gridCol>
                <a:gridCol w="2859011">
                  <a:extLst>
                    <a:ext uri="{9D8B030D-6E8A-4147-A177-3AD203B41FA5}">
                      <a16:colId xmlns:a16="http://schemas.microsoft.com/office/drawing/2014/main" val="3083295887"/>
                    </a:ext>
                  </a:extLst>
                </a:gridCol>
              </a:tblGrid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>
                          <a:effectLst/>
                        </a:rPr>
                        <a:t>Category</a:t>
                      </a:r>
                      <a:endParaRPr lang="en-US" sz="1200" b="1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dirty="0">
                          <a:effectLst/>
                        </a:rPr>
                        <a:t>Amount (BDT)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41841485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Personnel Cost (Table 7.2)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6,26,333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97943091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Hardware Cost (Table 7.3)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51,000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6601827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Software Cost (Table 7.4)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55553953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Other Cost (Table 7.5)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19,000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28635811"/>
                  </a:ext>
                </a:extLst>
              </a:tr>
              <a:tr h="36794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Project Total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6,96,333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44344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37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EC7D-7243-FA62-C59A-08D8667DE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3D53B-FFB3-FC56-074F-8C2A26D27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3155FCD-5C08-404E-1748-832F1A55D1EA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1FE26D50-20FC-675F-F05C-2B43156A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54E3FA2-3D6F-1323-F767-2CAC3FB5F926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Analysis Modeling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E2F7A958-2F60-C392-1EAC-548F9A2FC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391A626-7B3A-62EC-2096-B1308588ADCA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4136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58799-7950-FCDE-4809-2A1B5C46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F8E1-8577-8BBA-FD86-92A4B7640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B57B79D-618D-EC6B-E8C7-86DA2A710567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D6824C64-B56C-58F7-60B6-1004F8CCB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AD4EB61-8E4B-680F-BD36-D6847409C275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FE70548-A10D-5742-55B7-CE872C894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88247F4-4C4E-BF45-EDE4-3EA782FD7FEC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F8FBB9-1A70-6654-4B16-7406465AE988}"/>
              </a:ext>
            </a:extLst>
          </p:cNvPr>
          <p:cNvSpPr txBox="1"/>
          <p:nvPr/>
        </p:nvSpPr>
        <p:spPr>
          <a:xfrm>
            <a:off x="4469240" y="6228942"/>
            <a:ext cx="32535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4.1 Activity Diagram: User Authentication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7253B1-AE71-2750-8EF6-A30EE151B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1551" y="830519"/>
            <a:ext cx="3488897" cy="539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65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8816-C5B9-F259-A63F-CAE20ADA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308F3-08FF-36CE-66D4-6FFF3848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08DAF85-6525-B935-B6D2-0CEE98C690ED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9EAD27FF-F144-A9C5-6CC6-A817E39E8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6D0846B-4612-DB86-256C-F0D59BE5673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046A33D-1BBF-18A8-1EB7-019035B2B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367B39E-D7ED-D189-C4CB-E5C051C7DB44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5166BC-6181-9EDD-D90A-5C4A1F87D4D8}"/>
              </a:ext>
            </a:extLst>
          </p:cNvPr>
          <p:cNvSpPr txBox="1"/>
          <p:nvPr/>
        </p:nvSpPr>
        <p:spPr>
          <a:xfrm>
            <a:off x="4391125" y="6149119"/>
            <a:ext cx="3025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4.2 Activity Diagram: Waste Detection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A4BD2-7387-CA35-20CD-CA30AC5180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514" y="511703"/>
            <a:ext cx="2256971" cy="545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424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05B90-1109-4D79-619A-0F6C1D633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699C-94E8-7DEA-6FA0-81896C98A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CDD9F07-1954-4CAC-6E12-24E8EE84EBA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37CAE01-894E-B57E-B96B-17EE9BCEC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6C3590E-B331-4941-3B01-5E3154320D86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EF120E69-F176-E990-655A-7B854E91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77B10E34-6FC6-D4F6-7B63-FFB166CC605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F39C7-F09E-AF46-522E-2BAFDDEE1B55}"/>
              </a:ext>
            </a:extLst>
          </p:cNvPr>
          <p:cNvSpPr txBox="1"/>
          <p:nvPr/>
        </p:nvSpPr>
        <p:spPr>
          <a:xfrm>
            <a:off x="4193925" y="6149119"/>
            <a:ext cx="3420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4.3 Activity Diagram: Detection Verification.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67322C-7839-2320-9777-537A95EB4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262" y="694457"/>
            <a:ext cx="4951475" cy="5389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1895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C1900-1A81-DF2B-35DA-32B9A8B1A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8178E-35E3-71AD-3AB1-B845E67C8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62EC0F6-05B7-5CB4-D7AC-B3B2FDD02398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19971B37-BB04-BF9C-62D5-2F39BDAB5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A9EBF20-A392-6F6F-502B-5AD836EF7E2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Activity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E1BD32A-4D1E-EA2E-F118-9FBA470B6D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BC6AB23-02EA-C4EA-B0BF-2FAE31774580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57B4A9-4F21-824A-946D-E428F6A5A13A}"/>
              </a:ext>
            </a:extLst>
          </p:cNvPr>
          <p:cNvSpPr txBox="1"/>
          <p:nvPr/>
        </p:nvSpPr>
        <p:spPr>
          <a:xfrm>
            <a:off x="4497068" y="6145549"/>
            <a:ext cx="3197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4.4 Activity Diagram: Report Generation.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6934D-EA6B-E2CA-2E7D-451732F906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262" y="898611"/>
            <a:ext cx="4943475" cy="5060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259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0B2F3-3CED-18F8-FCD7-1D553AE3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857500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 Diagram</a:t>
            </a:r>
            <a:b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491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70360-1D07-3802-E64B-18716B76F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5D238-D661-9677-2944-BBB332483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F045E65-115E-2E65-77C5-A541946E0E2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29</a:t>
            </a:fld>
            <a:endParaRPr lang="en-US" sz="1200" dirty="0">
              <a:latin typeface="Rockwell" pitchFamily="18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4AAD5C2-2942-FE08-8C1A-40F828109F1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endParaRPr lang="en-US" sz="3200" b="1" dirty="0">
              <a:solidFill>
                <a:schemeClr val="tx1">
                  <a:lumMod val="95000"/>
                  <a:lumOff val="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2222A61-1611-D029-1B05-D9259792A5FE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97A8E-12D0-E375-2C7A-B4613BCADE06}"/>
              </a:ext>
            </a:extLst>
          </p:cNvPr>
          <p:cNvSpPr txBox="1"/>
          <p:nvPr/>
        </p:nvSpPr>
        <p:spPr>
          <a:xfrm>
            <a:off x="5250255" y="6306827"/>
            <a:ext cx="1691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5 Class Diagram.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42F65E-50F7-23F9-9381-18B2C01D3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663" y="98650"/>
            <a:ext cx="9233672" cy="6185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0418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0AD59-F6B5-72B1-2094-2F7D9597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AF7D0-F83C-97FB-414D-D2F08180C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D687846-FAAB-0836-9251-6BBF40CE2F61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C5D0B98D-3D49-9314-5AD6-ACA202F3D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3C5790F-64DB-29DF-3E53-0D2B3644B43F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ACAE96B2-107F-FC13-6680-F7C5F0DE15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45107E22-3429-A654-6EE1-A4C2E4F457AC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AFAD74-8FB7-C544-01FA-C13BF7BC3BD6}"/>
              </a:ext>
            </a:extLst>
          </p:cNvPr>
          <p:cNvSpPr txBox="1"/>
          <p:nvPr/>
        </p:nvSpPr>
        <p:spPr>
          <a:xfrm>
            <a:off x="5414563" y="4724400"/>
            <a:ext cx="13628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6.1 Level 0.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2BA51-D0E5-4C58-2F2A-05D3E6F0A8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3828" y="2209800"/>
            <a:ext cx="8960294" cy="210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946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2F058-7939-1505-F489-FB033D115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EE31C-E203-7C8E-0928-8E68A34F3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7777EAF-89C4-09E5-F871-16DBF5FB70B3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2B38B469-E61E-A853-970D-D0D0D91D9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33A57CF-AE44-A1E1-B3F2-A7D93217336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D24D25C5-0285-348E-C190-48080A5DE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05BFCAC-3EAF-0BEA-3BBA-158D2FC2296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AF5F0C-FCB8-375E-2EC9-551060E8F6B4}"/>
              </a:ext>
            </a:extLst>
          </p:cNvPr>
          <p:cNvSpPr txBox="1"/>
          <p:nvPr/>
        </p:nvSpPr>
        <p:spPr>
          <a:xfrm>
            <a:off x="5242241" y="6129543"/>
            <a:ext cx="17075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6.2 DFD Level 1.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8FFAAC-7246-946A-5B83-1D1E0888FD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4050" y="775946"/>
            <a:ext cx="6419850" cy="5206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43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323B-050C-3720-7608-522E60D0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8491-7DC5-9250-2B26-2992BF4C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9783595-BF80-F907-FB5D-F7967BE93DA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4C456A6-09FB-7114-6E0A-4FE82EC65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560A968-4D89-84DB-B4D7-67F780994944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63FA903D-EC54-1997-A296-2D2D5DE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9D6E2E9E-19AE-C2EE-E417-CAC32E03174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CB4F5C-055F-5D1D-98D4-E21B7647C747}"/>
              </a:ext>
            </a:extLst>
          </p:cNvPr>
          <p:cNvSpPr txBox="1"/>
          <p:nvPr/>
        </p:nvSpPr>
        <p:spPr>
          <a:xfrm>
            <a:off x="5184533" y="6129543"/>
            <a:ext cx="1822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6.3 DFD Level 2.1.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0A99-B422-44B9-AEC7-965C3DC779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271587"/>
            <a:ext cx="8686800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1694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137FF-7DBD-C96F-AE6B-785A2B30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320A7-EF57-FE3E-D17D-EAED3AB0D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616A8A5-1C60-BAEB-DEAB-08B6B66F5F6C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6370389-4CF5-E276-DDBA-8DFF6D7F3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8078013-88E9-FDEF-9716-43A82E271D4B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Data Flow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5DC324D5-7CEB-AA75-BCCA-1FCB7D226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00EE1174-B817-A826-6717-2A7F065DFB03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00BA3E-01F3-DB0E-6E9B-15D411174E8E}"/>
              </a:ext>
            </a:extLst>
          </p:cNvPr>
          <p:cNvSpPr txBox="1"/>
          <p:nvPr/>
        </p:nvSpPr>
        <p:spPr>
          <a:xfrm>
            <a:off x="5184533" y="6129543"/>
            <a:ext cx="1822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6.4 DFD Level 2.2.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9826F-40CB-6BAE-8550-A7E4ED17D4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087" y="1038225"/>
            <a:ext cx="10029825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406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BBC91-BC90-4924-DA76-3832AA8B7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BD033-4BE4-5A7C-A25E-EBEB668D3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FF91D8EF-A3F3-E807-C13E-BA13565AE689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8A44A042-DE66-FA0E-2C79-39826C1C9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86F1FB27-C17E-22F1-5467-98E92837C5B8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Entity Relationship Diagram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D0BE4375-7FD7-29C1-EF32-745D751B0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BB70B3EC-EFDA-AE06-0E32-3A9C41503069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E6D781-42A8-741F-2C2F-3A60E80AF946}"/>
              </a:ext>
            </a:extLst>
          </p:cNvPr>
          <p:cNvSpPr txBox="1"/>
          <p:nvPr/>
        </p:nvSpPr>
        <p:spPr>
          <a:xfrm>
            <a:off x="5552423" y="6129543"/>
            <a:ext cx="10871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7 ERD.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656E8F-8411-8618-F5BA-B90E0BF6B7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132749"/>
            <a:ext cx="8001000" cy="4432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770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1E09B-1AB8-8DBC-9608-AACB1D697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A99A-1560-9D5D-15AB-A56DF0543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2AC64276-26A8-7681-B916-2FBEBE719BA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359FE7BC-EA6B-C87B-1CCF-E7B2F7A0D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3F6674D-3847-3CB2-E3AE-BCC038F3E174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Management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91B92283-4473-4383-D026-E1D63A864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EC92339F-7E59-336A-DA0F-09C3EDA0E50B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153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7079D-C055-3C7C-105D-62B4FBAE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A4EB-509D-1ED9-D1BE-547E7DF2F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63DF571-E4D6-A39D-A761-E2EFDE4B7962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36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476E218F-2513-BF85-632F-AB92B93B9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17C8781-2014-69A2-F719-6B1B797CD7D2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Identification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1AD4FB6-B650-1B3F-656E-559729ED6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EB65475-F009-8253-5E0A-A7540C60245F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701825-5BF5-575B-751E-8C19F695B1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8048" y="1328444"/>
            <a:ext cx="6115904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0228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F5E62-548A-A856-1301-A2704BCF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FC9A-4849-B699-CC04-B02CF1782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0D074645-3979-E019-D468-838799A8B28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EC15F100-D564-8574-CB4E-C7639704D7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5E1B9D7-2DC8-B0CD-1024-3C3C919BADE9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Analysis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B9A0E68F-2A1A-0619-9D08-A27B96126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B0F8B991-7FA5-2F4D-3611-94E229956108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22DF1D-EB17-3852-7F2C-DEAE9D021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364" y="1647576"/>
            <a:ext cx="5525271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8343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534B9-DF0A-6175-3AF5-BD7D52D7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75076-8C28-A2C6-5360-14D056BDB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EB7CD9D-77FB-9617-D016-EC3AEA7C8CE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38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B3E932FB-0326-3DBF-C79F-16442D92A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B5B1E95-6DD9-433D-0FE1-7A02FBFAC123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Risk Planning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D324F008-3B36-9068-B5AA-FBF8406C0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B62EC05B-1D9F-905D-D109-2EE4446C0E8F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386BC14-0E55-677A-FDD1-8AE0E025C4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954716"/>
              </p:ext>
            </p:extLst>
          </p:nvPr>
        </p:nvGraphicFramePr>
        <p:xfrm>
          <a:off x="2648744" y="1371600"/>
          <a:ext cx="6894512" cy="425450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36592">
                  <a:extLst>
                    <a:ext uri="{9D8B030D-6E8A-4147-A177-3AD203B41FA5}">
                      <a16:colId xmlns:a16="http://schemas.microsoft.com/office/drawing/2014/main" val="481920213"/>
                    </a:ext>
                  </a:extLst>
                </a:gridCol>
                <a:gridCol w="2089819">
                  <a:extLst>
                    <a:ext uri="{9D8B030D-6E8A-4147-A177-3AD203B41FA5}">
                      <a16:colId xmlns:a16="http://schemas.microsoft.com/office/drawing/2014/main" val="2723213417"/>
                    </a:ext>
                  </a:extLst>
                </a:gridCol>
                <a:gridCol w="875367">
                  <a:extLst>
                    <a:ext uri="{9D8B030D-6E8A-4147-A177-3AD203B41FA5}">
                      <a16:colId xmlns:a16="http://schemas.microsoft.com/office/drawing/2014/main" val="51175380"/>
                    </a:ext>
                  </a:extLst>
                </a:gridCol>
                <a:gridCol w="3492734">
                  <a:extLst>
                    <a:ext uri="{9D8B030D-6E8A-4147-A177-3AD203B41FA5}">
                      <a16:colId xmlns:a16="http://schemas.microsoft.com/office/drawing/2014/main" val="3592856376"/>
                    </a:ext>
                  </a:extLst>
                </a:gridCol>
              </a:tblGrid>
              <a:tr h="24143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 Name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Strategy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Headline Action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23945306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R1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Schedule slip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Hold the phase boundaries and trim scope inside a phase rather than extend its duration.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91232333"/>
                  </a:ext>
                </a:extLst>
              </a:tr>
              <a:tr h="75766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R2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integration mismatch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Freeze the detection engine interface in code and write unit tests that exercise it with sample inputs.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4206493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R3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loss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Provide an in-app backup action and document a daily backup routine.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1398524"/>
                  </a:ext>
                </a:extLst>
              </a:tr>
              <a:tr h="75766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R4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Credential exposure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Avoid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 bcrypt for passwords and store SMTP secrets in app_settings only; never write them to the activity log.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5273618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R5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Performance degradation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Apply database indexes and paginate the history table at 25 rows per page.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83549442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R6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Usability rejection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Run an early demo with two operators and incorporate feedback before the polish phase.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9485166"/>
                  </a:ext>
                </a:extLst>
              </a:tr>
              <a:tr h="49954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R7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SMTP outage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Mitigate</a:t>
                      </a:r>
                      <a:endParaRPr lang="en-US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6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Retry once with a five-second pause and surface a toast notification when delivery fails.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24857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9470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6B9B3-DB5F-534B-643D-656AF741D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6841E-4B0A-719D-0CCC-6B32F8AB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A6FD454A-F146-D0E6-0248-B4C7BAC644E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39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9AA80BBB-9404-5DD0-C7F0-C6E247A5FE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110A7C3-00DC-3079-3BBA-599E6745615E}"/>
              </a:ext>
            </a:extLst>
          </p:cNvPr>
          <p:cNvSpPr txBox="1">
            <a:spLocks/>
          </p:cNvSpPr>
          <p:nvPr/>
        </p:nvSpPr>
        <p:spPr>
          <a:xfrm>
            <a:off x="2072640" y="3200400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System Interfaces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5B978FEE-5108-87A8-1197-28D348B8A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55667307-CBDD-7C59-6F4C-E94C5C437CF3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5907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A48C1-E25A-4053-272A-E4677BD3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3FEAF-16FD-6526-58DF-CA2A5AD96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51F989D-0288-B161-9BC9-B52DF7C57BF7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40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1B46AA02-A9BF-C621-F393-F7CD5F1EFD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670D0942-9898-C44E-F980-E2A3E7AC9A9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Login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2728A80-2AC9-31C4-9021-2F0D76D42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68ADFE92-6A4E-DF06-5F32-C417A92A9438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565DB6-CF79-A3BA-EFBF-979B1B3BF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5" y="1363444"/>
            <a:ext cx="9220200" cy="443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3111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4C057-3FC3-F4EB-4CC3-585B3759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2CFD-90F6-A485-21AF-54CC8D2A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FE048EF-20BF-9D6C-1736-8420D9881787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41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7FB5DC75-CD0A-BD1A-9874-4A822C657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AD401CD-BAA4-336E-A728-09721CE7132D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Admin Dashboard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9EE5FFC-A0A3-9F20-12FE-DF331EB42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8C7F327-34D8-F620-4C1F-1E9998BF3E21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01FC49-05CF-ADED-24DB-5B83FC863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308" y="1009700"/>
            <a:ext cx="10311384" cy="525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3088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0F91-7215-0923-00F4-01CB10EBA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73C2-5331-42E3-A429-2058F69A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957BC7C0-3E4F-B8E9-2ECB-063EEF647C65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42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1B03F89-F17C-D045-C9E7-5EE3E367B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31D7A52A-6BE0-E18B-F377-078B9BB86D11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Detection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145DC72-C45E-43E0-9FB5-9FD0EBA5B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3070D704-1CD2-A866-F015-2D4E9E6E348D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2530A7-B123-320F-7655-7D78A3B67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1243296"/>
            <a:ext cx="9296400" cy="4771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5036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60B02-8E50-3F3C-DF8A-2E26F964D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A3CB0-51C2-CC72-D324-6B668C60C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D1A1A025-49C6-0A68-5528-BBDCFED7F1E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43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FE0A074B-E472-6E27-FBB0-E77A420FD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605ED30-2BC7-78C5-E61B-AFBDADDAB81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Waste History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8CEDB194-7C30-34FF-43B7-B6658615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06226534-E1EA-8A85-CDC4-5C37D0CEDB05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77B5DB-B7B8-8336-4691-A2C988767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5" y="990600"/>
            <a:ext cx="10591800" cy="544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5861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E8021-3A50-F6EE-98E4-FE1747BC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12BAD-E299-3991-DD78-1418ADEB0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579FEC76-2234-FE69-A7AC-2EDAAADE25F6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44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61F7BDE1-DC26-130F-1368-CEB060B138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4E3C28B-3216-A9E1-D289-6F7E7339AF7A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Report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500BFCA6-54C9-90A9-6176-BCFB6183F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C5447E52-6E3E-6A17-6B88-9498575DCFE8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3BFDA5-0FEC-3B1B-11F4-2F924D16D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308" y="1052793"/>
            <a:ext cx="10311384" cy="524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443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CDE8F-292D-A701-E424-DD15E8030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07562-C7ED-9B0A-4197-FBD9A3C3D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79D0F22-7D58-2BAE-178C-1E0B355890F4}"/>
              </a:ext>
            </a:extLst>
          </p:cNvPr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45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AD1EE453-2042-036A-2D51-D05ED9892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06EB2CC-B2A6-6F18-4116-373EE3CE4497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Settings Screen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CDAE3437-227F-BF7F-33C6-8FFD74EA6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FE1C5661-CBB1-26C1-3922-E0F6F05F9557}"/>
              </a:ext>
            </a:extLst>
          </p:cNvPr>
          <p:cNvSpPr txBox="1">
            <a:spLocks/>
          </p:cNvSpPr>
          <p:nvPr/>
        </p:nvSpPr>
        <p:spPr>
          <a:xfrm>
            <a:off x="2055875" y="6608708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E51F66-2B76-3A30-504E-A910BEBA6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14400"/>
            <a:ext cx="10210800" cy="530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4746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838200"/>
            <a:ext cx="11050738" cy="327660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SWMS demonstrates how computer vision + structured data management can modernize waste operations.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Delivered a fully working desktop prototype covering detection, fleet, alerts, and reporting.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on a modular, scalable architecture ready for future enhancements: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sync &amp; multi-tenant support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companion app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bin sensors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predictive analytics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successfully validates the feasibility of an affordable, offline-capable smart waste solution.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46</a:t>
            </a:fld>
            <a:endParaRPr lang="en-US" sz="1200" dirty="0">
              <a:latin typeface="Rockwell" pitchFamily="18" charset="0"/>
            </a:endParaRPr>
          </a:p>
        </p:txBody>
      </p:sp>
      <p:sp>
        <p:nvSpPr>
          <p:cNvPr id="10" name="Slide Number Placeholder 3"/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380301D-C2FB-CCEB-FB5A-5CBF63681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171857"/>
            <a:ext cx="7924800" cy="457201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r>
              <a:rPr lang="en-US" sz="3200" b="1" dirty="0"/>
              <a:t>                     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  <p:pic>
        <p:nvPicPr>
          <p:cNvPr id="13" name="Picture 4">
            <a:extLst>
              <a:ext uri="{FF2B5EF4-FFF2-40B4-BE49-F238E27FC236}">
                <a16:creationId xmlns:a16="http://schemas.microsoft.com/office/drawing/2014/main" id="{1DE960E5-FF35-9EDD-969F-C0694B5F1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9148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9273AB02-C084-AA6E-F2F1-F54E1B680830}"/>
              </a:ext>
            </a:extLst>
          </p:cNvPr>
          <p:cNvSpPr txBox="1">
            <a:spLocks/>
          </p:cNvSpPr>
          <p:nvPr/>
        </p:nvSpPr>
        <p:spPr>
          <a:xfrm>
            <a:off x="1880616" y="171856"/>
            <a:ext cx="8046720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en-US" sz="3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02CF62C1-2383-F445-35E0-46DA1FB19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100459" y="122550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52400"/>
            <a:ext cx="7924800" cy="457200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762000"/>
            <a:ext cx="8763000" cy="5791200"/>
          </a:xfrm>
        </p:spPr>
        <p:txBody>
          <a:bodyPr>
            <a:normAutofit fontScale="32500" lnSpcReduction="20000"/>
          </a:bodyPr>
          <a:lstStyle/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Adedeji, O. and Wang, Z. (2019) 'Intelligent waste classification system using deep learning convolutional neural network', Procedia Manufacturing, 35, pp. 607-612. doi: 10.1016/j.promfg.2019.05.086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Banerjee, A. and Watson, T. F. (2011) Pickard's manual of operative dentistry. 9th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Oxford: Oxford University Press.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Beazley, D. and Jones, B. K. (2013) Python cookbook. 3rd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Sebastopol: O'Reilly Media.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Bushnag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A. (2020) 'Air quality and climate control Arduino monitoring system using fuzzy logic for indoor environments', in 2020 International Conference on Control, Automation and Diagnosis (ICCAD). IEEE, pp. 1-6. doi: 10.1109/ICCAD49821.2020.9260552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Environment, Bangladesh (2021) State of solid waste management in Bangladesh: 2021 status report. Dhaka: Government of Bangladesh.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Hossain, M. S. and Rahman, A. (2020) 'A study on solid waste management in Dhaka city', Journal of Environmental Science and Sustainable Development, 3(2), pp. 45-58.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Kaza, S., Yao, L.,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Bhada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-Tata, P. and Van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Woerden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F. (2018) What a Waste 2.0: A global snapshot of solid waste management to 2050. Washington: World Bank Group.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Knapik, J. J., Cosio-Lima, L. M. and Reynolds, K. L. (2015) 'Efficacy of functional movement screening for predicting injuries in coast guard cadets', The Journal of Strength and Conditioning Research, 29(5), pp. 1157-1162.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Lutz, M. (2013) Learning Python. 5th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Sebastopol: O'Reilly Media.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Development Team (2024) Matplotlib documentation. Available at: https://matplotlib.org/stable/ (Accessed: 12 March 2026).</a:t>
            </a:r>
          </a:p>
          <a:p>
            <a:pPr marL="514350" indent="-514350" algn="just">
              <a:lnSpc>
                <a:spcPct val="220000"/>
              </a:lnSpc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Pahl, C. and Mani, N. (2014) 'Managing quality constraints in technology-managed learning content processes',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EdMedia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2014 World Conference on Educational Media and Technology, June 23-26, Tampere. Chesapeake: AACE, pp. 153-161.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8534400" y="6629400"/>
            <a:ext cx="213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>
              <a:defRPr/>
            </a:pPr>
            <a:fld id="{B6F15528-21DE-4FAA-801E-634DDDAF4B2B}" type="slidenum">
              <a:rPr lang="en-US" sz="1200">
                <a:latin typeface="Rockwell" pitchFamily="18" charset="0"/>
              </a:rPr>
              <a:pPr algn="r">
                <a:defRPr/>
              </a:pPr>
              <a:t>47</a:t>
            </a:fld>
            <a:endParaRPr lang="en-US" sz="1200" dirty="0">
              <a:latin typeface="Rockwell" pitchFamily="18" charset="0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5486" y="87062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031922" y="103094"/>
            <a:ext cx="483679" cy="5065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Slide Number Placeholder 3"/>
          <p:cNvSpPr txBox="1">
            <a:spLocks/>
          </p:cNvSpPr>
          <p:nvPr/>
        </p:nvSpPr>
        <p:spPr>
          <a:xfrm>
            <a:off x="1524000" y="6629400"/>
            <a:ext cx="7696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ctr"/>
            <a:r>
              <a:rPr lang="en-US" sz="1200" b="1" dirty="0">
                <a:latin typeface="Times New Roman" panose="02020603050405020304" pitchFamily="18" charset="0"/>
                <a:cs typeface="Times New Roman" pitchFamily="18" charset="0"/>
              </a:rPr>
              <a:t>Smart Waste Management System (SWMS)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83B98D-F20F-4774-A68C-0357B8E78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0" y="2362200"/>
            <a:ext cx="6425184" cy="914400"/>
          </a:xfrm>
        </p:spPr>
        <p:txBody>
          <a:bodyPr>
            <a:noAutofit/>
          </a:bodyPr>
          <a:lstStyle/>
          <a:p>
            <a:pPr algn="ctr"/>
            <a:r>
              <a:rPr lang="en-US" sz="4000" dirty="0">
                <a:latin typeface="Forte" panose="03060902040502070203" pitchFamily="66" charset="0"/>
              </a:rPr>
              <a:t>Any Questions ?</a:t>
            </a:r>
          </a:p>
        </p:txBody>
      </p:sp>
    </p:spTree>
    <p:extLst>
      <p:ext uri="{BB962C8B-B14F-4D97-AF65-F5344CB8AC3E}">
        <p14:creationId xmlns:p14="http://schemas.microsoft.com/office/powerpoint/2010/main" val="9727820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3048000" y="2819400"/>
            <a:ext cx="6172200" cy="990600"/>
          </a:xfrm>
        </p:spPr>
        <p:txBody>
          <a:bodyPr>
            <a:noAutofit/>
          </a:bodyPr>
          <a:lstStyle/>
          <a:p>
            <a:pPr algn="ctr"/>
            <a:r>
              <a:rPr lang="en-US" sz="3600" b="0" dirty="0">
                <a:latin typeface="Forte" pitchFamily="66" charset="0"/>
              </a:rPr>
              <a:t>Thank</a:t>
            </a:r>
            <a:r>
              <a:rPr lang="en-US" sz="3600" b="0" dirty="0">
                <a:latin typeface="Rage Italic" pitchFamily="66" charset="0"/>
              </a:rPr>
              <a:t> </a:t>
            </a:r>
            <a:r>
              <a:rPr lang="en-US" sz="3600" b="0" dirty="0">
                <a:latin typeface="Forte" pitchFamily="66" charset="0"/>
              </a:rPr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2363</TotalTime>
  <Words>2717</Words>
  <Application>Microsoft Office PowerPoint</Application>
  <PresentationFormat>Widescreen</PresentationFormat>
  <Paragraphs>347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9" baseType="lpstr">
      <vt:lpstr>Arial</vt:lpstr>
      <vt:lpstr>Arial Narrow</vt:lpstr>
      <vt:lpstr>Calibri</vt:lpstr>
      <vt:lpstr>Courier New</vt:lpstr>
      <vt:lpstr>Forte</vt:lpstr>
      <vt:lpstr>Rage Italic</vt:lpstr>
      <vt:lpstr>Rockwell</vt:lpstr>
      <vt:lpstr>Times New Roman</vt:lpstr>
      <vt:lpstr>Wingdings</vt:lpstr>
      <vt:lpstr>Office Theme</vt:lpstr>
      <vt:lpstr>  Department of  Computer Science and Engineering </vt:lpstr>
      <vt:lpstr>Contents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</vt:lpstr>
      <vt:lpstr>                                   </vt:lpstr>
      <vt:lpstr>                                   </vt:lpstr>
      <vt:lpstr>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Class Diagram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                                    </vt:lpstr>
      <vt:lpstr>References</vt:lpstr>
      <vt:lpstr>Any Questions ?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Muradul Islam</dc:creator>
  <cp:lastModifiedBy>Muradul Islam</cp:lastModifiedBy>
  <cp:revision>198</cp:revision>
  <dcterms:created xsi:type="dcterms:W3CDTF">2021-05-07T10:10:49Z</dcterms:created>
  <dcterms:modified xsi:type="dcterms:W3CDTF">2026-05-26T19:50:38Z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2026-05-17T22:00:31Z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8b815924-aee4-4121-a24c-ea50d7e938c9</vt:lpwstr>
  </property>
  <property fmtid="{D5CDD505-2E9C-101B-9397-08002B2CF9AE}" pid="7" name="MSIP_Label_defa4170-0d19-0005-0004-bc88714345d2_ActionId">
    <vt:lpwstr>48862d79-3b59-4970-b88d-b62ebaa715d3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